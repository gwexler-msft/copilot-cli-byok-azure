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replacement developer tool. It is a controlled model path behind the tools developers already use. The work packages the architecture as reusable, parameterized infrastructure rather than a one-off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distinction is customer control of the inference path. GitHub SaaS is not the default model path. APIM validates the caller, enforces policy, removes the inbound credential, and authenticates separately to the model backend.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inbound and backend identities are deliberately separate. A developer's APIM key or JWT never reaches Foundry. The backend sees the APIM managed identity. Chat Completions, Responses, model discovery, streaming, and optional Anthropic-wire clients are handled at the gateway.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Government is not treated as Commercial with a different URL. The template parameterizes authorities, audiences, DNS, and availability. The default Gov inference path remains inside the Government tenant and private network. A cross-cloud Commercial model backend exists only as an explicit opt-in and changes that boundary, so it must be disclosed and approved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pilot validated, not universally production certified. The strongest proof is the automated dual-cloud regression loop: the same source provisions both dev environments, tests from inside each private VNet, and preserves long-lived pilots for demos and canary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reusable-IP argument. Much of the value is not the resource diagram; it is the set of tested policy fixes and operating procedures that prevent every customer team from rediscovering the same platform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this enables: a customer can begin with a tightly scoped pilot, prove the private trust boundary and developer workflow, then scale using the same artifacts and operating model. Production should use an SLA-backed APIM tier and customer-specific security, capacity, and compliance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334"/>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49808" y="658368"/>
            <a:ext cx="2423160" cy="329184"/>
          </a:xfrm>
          <a:prstGeom prst="roundRect">
            <a:avLst/>
          </a:prstGeom>
          <a:solidFill>
            <a:srgbClr val="FCF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76656"/>
            <a:ext cx="2423160" cy="237744"/>
          </a:xfrm>
          <a:prstGeom prst="rect">
            <a:avLst/>
          </a:prstGeom>
          <a:noFill/>
        </p:spPr>
        <p:txBody>
          <a:bodyPr wrap="square" lIns="36576" rIns="36576" tIns="36576" bIns="36576" anchor="t">
            <a:spAutoFit/>
          </a:bodyPr>
          <a:lstStyle/>
          <a:p>
            <a:pPr algn="ctr">
              <a:defRPr sz="1000" b="1">
                <a:solidFill>
                  <a:srgbClr val="E6AE2D"/>
                </a:solidFill>
                <a:latin typeface="Aptos"/>
              </a:defRPr>
            </a:pPr>
            <a:r>
              <a:t>AZURE GOVERNMENT + COMMERCIAL</a:t>
            </a:r>
          </a:p>
        </p:txBody>
      </p:sp>
      <p:sp>
        <p:nvSpPr>
          <p:cNvPr id="5" name="TextBox 4"/>
          <p:cNvSpPr txBox="1"/>
          <p:nvPr/>
        </p:nvSpPr>
        <p:spPr>
          <a:xfrm>
            <a:off x="713232" y="1325880"/>
            <a:ext cx="7406640" cy="1600200"/>
          </a:xfrm>
          <a:prstGeom prst="rect">
            <a:avLst/>
          </a:prstGeom>
          <a:noFill/>
        </p:spPr>
        <p:txBody>
          <a:bodyPr wrap="square" lIns="36576" rIns="36576" tIns="36576" bIns="36576" anchor="t">
            <a:spAutoFit/>
          </a:bodyPr>
          <a:lstStyle/>
          <a:p>
            <a:pPr algn="l">
              <a:defRPr sz="3800" b="1">
                <a:solidFill>
                  <a:srgbClr val="FFFFFF"/>
                </a:solidFill>
                <a:latin typeface="Aptos Display"/>
              </a:defRPr>
            </a:pPr>
            <a:r>
              <a:t>Private Copilot,</a:t>
            </a:r>
            <a:br/>
            <a:r>
              <a:t>Customer-Controlled AI</a:t>
            </a:r>
          </a:p>
        </p:txBody>
      </p:sp>
      <p:sp>
        <p:nvSpPr>
          <p:cNvPr id="6" name="TextBox 5"/>
          <p:cNvSpPr txBox="1"/>
          <p:nvPr/>
        </p:nvSpPr>
        <p:spPr>
          <a:xfrm>
            <a:off x="749808" y="3246120"/>
            <a:ext cx="7040880" cy="932688"/>
          </a:xfrm>
          <a:prstGeom prst="rect">
            <a:avLst/>
          </a:prstGeom>
          <a:noFill/>
        </p:spPr>
        <p:txBody>
          <a:bodyPr wrap="square" lIns="36576" rIns="36576" tIns="36576" bIns="36576" anchor="t">
            <a:spAutoFit/>
          </a:bodyPr>
          <a:lstStyle/>
          <a:p>
            <a:pPr algn="l">
              <a:defRPr sz="1800" b="0">
                <a:solidFill>
                  <a:srgbClr val="D2DEE5"/>
                </a:solidFill>
                <a:latin typeface="Aptos"/>
              </a:defRPr>
            </a:pPr>
            <a:r>
              <a:t>A reusable BYOK gateway that connects Copilot CLI and VS Code to private</a:t>
            </a:r>
            <a:br/>
            <a:r>
              <a:t>Microsoft Foundry through an internal Azure API Management AI gateway.</a:t>
            </a:r>
          </a:p>
        </p:txBody>
      </p:sp>
      <p:sp>
        <p:nvSpPr>
          <p:cNvPr id="7" name="Rounded Rectangle 6"/>
          <p:cNvSpPr/>
          <p:nvPr/>
        </p:nvSpPr>
        <p:spPr>
          <a:xfrm>
            <a:off x="749808" y="4690872"/>
            <a:ext cx="1984248" cy="329184"/>
          </a:xfrm>
          <a:prstGeom prst="roundRect">
            <a:avLst/>
          </a:prstGeom>
          <a:solidFill>
            <a:srgbClr val="1F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709159"/>
            <a:ext cx="1984248" cy="237744"/>
          </a:xfrm>
          <a:prstGeom prst="rect">
            <a:avLst/>
          </a:prstGeom>
          <a:noFill/>
        </p:spPr>
        <p:txBody>
          <a:bodyPr wrap="square" lIns="36576" rIns="36576" tIns="36576" bIns="36576" anchor="t">
            <a:spAutoFit/>
          </a:bodyPr>
          <a:lstStyle/>
          <a:p>
            <a:pPr algn="ctr">
              <a:defRPr sz="1000" b="1">
                <a:solidFill>
                  <a:srgbClr val="00788C"/>
                </a:solidFill>
                <a:latin typeface="Aptos"/>
              </a:defRPr>
            </a:pPr>
            <a:r>
              <a:t>PRIVATE DATA PLANE</a:t>
            </a:r>
          </a:p>
        </p:txBody>
      </p:sp>
      <p:sp>
        <p:nvSpPr>
          <p:cNvPr id="9" name="Rounded Rectangle 8"/>
          <p:cNvSpPr/>
          <p:nvPr/>
        </p:nvSpPr>
        <p:spPr>
          <a:xfrm>
            <a:off x="2990088" y="4690872"/>
            <a:ext cx="1984248" cy="329184"/>
          </a:xfrm>
          <a:prstGeom prst="roundRect">
            <a:avLst/>
          </a:prstGeom>
          <a:solidFill>
            <a:srgbClr val="1F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0088" y="4709159"/>
            <a:ext cx="1984248" cy="237744"/>
          </a:xfrm>
          <a:prstGeom prst="rect">
            <a:avLst/>
          </a:prstGeom>
          <a:noFill/>
        </p:spPr>
        <p:txBody>
          <a:bodyPr wrap="square" lIns="36576" rIns="36576" tIns="36576" bIns="36576" anchor="t">
            <a:spAutoFit/>
          </a:bodyPr>
          <a:lstStyle/>
          <a:p>
            <a:pPr algn="ctr">
              <a:defRPr sz="1000" b="1">
                <a:solidFill>
                  <a:srgbClr val="2A8466"/>
                </a:solidFill>
                <a:latin typeface="Aptos"/>
              </a:defRPr>
            </a:pPr>
            <a:r>
              <a:t>MANAGED IDENTITY</a:t>
            </a:r>
          </a:p>
        </p:txBody>
      </p:sp>
      <p:sp>
        <p:nvSpPr>
          <p:cNvPr id="11" name="Rounded Rectangle 10"/>
          <p:cNvSpPr/>
          <p:nvPr/>
        </p:nvSpPr>
        <p:spPr>
          <a:xfrm>
            <a:off x="5230368" y="4690872"/>
            <a:ext cx="1984248" cy="329184"/>
          </a:xfrm>
          <a:prstGeom prst="roundRect">
            <a:avLst/>
          </a:prstGeom>
          <a:solidFill>
            <a:srgbClr val="433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30368" y="4709159"/>
            <a:ext cx="1984248" cy="237744"/>
          </a:xfrm>
          <a:prstGeom prst="rect">
            <a:avLst/>
          </a:prstGeom>
          <a:noFill/>
        </p:spPr>
        <p:txBody>
          <a:bodyPr wrap="square" lIns="36576" rIns="36576" tIns="36576" bIns="36576" anchor="t">
            <a:spAutoFit/>
          </a:bodyPr>
          <a:lstStyle/>
          <a:p>
            <a:pPr algn="ctr">
              <a:defRPr sz="1000" b="1">
                <a:solidFill>
                  <a:srgbClr val="E6AE2D"/>
                </a:solidFill>
                <a:latin typeface="Aptos"/>
              </a:defRPr>
            </a:pPr>
            <a:r>
              <a:t>GOVERNED CONSUMPTION</a:t>
            </a:r>
          </a:p>
        </p:txBody>
      </p:sp>
      <p:sp>
        <p:nvSpPr>
          <p:cNvPr id="13" name="Hexagon 12"/>
          <p:cNvSpPr/>
          <p:nvPr/>
        </p:nvSpPr>
        <p:spPr>
          <a:xfrm>
            <a:off x="8458200" y="1481328"/>
            <a:ext cx="1508760" cy="914400"/>
          </a:xfrm>
          <a:prstGeom prst="hexagon">
            <a:avLst/>
          </a:prstGeom>
          <a:solidFill>
            <a:srgbClr val="224553"/>
          </a:solidFill>
          <a:ln>
            <a:solidFill>
              <a:srgbClr val="6382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773936"/>
            <a:ext cx="1508760" cy="228600"/>
          </a:xfrm>
          <a:prstGeom prst="rect">
            <a:avLst/>
          </a:prstGeom>
          <a:noFill/>
        </p:spPr>
        <p:txBody>
          <a:bodyPr wrap="square" lIns="36576" rIns="36576" tIns="36576" bIns="36576" anchor="t">
            <a:spAutoFit/>
          </a:bodyPr>
          <a:lstStyle/>
          <a:p>
            <a:pPr algn="ctr">
              <a:defRPr sz="1200" b="1">
                <a:solidFill>
                  <a:srgbClr val="FFFFFF"/>
                </a:solidFill>
                <a:latin typeface="Aptos"/>
              </a:defRPr>
            </a:pPr>
            <a:r>
              <a:t>COPILOT</a:t>
            </a:r>
          </a:p>
        </p:txBody>
      </p:sp>
      <p:sp>
        <p:nvSpPr>
          <p:cNvPr id="15" name="Hexagon 14"/>
          <p:cNvSpPr/>
          <p:nvPr/>
        </p:nvSpPr>
        <p:spPr>
          <a:xfrm>
            <a:off x="10058400" y="2898648"/>
            <a:ext cx="1508760" cy="914400"/>
          </a:xfrm>
          <a:prstGeom prst="hexagon">
            <a:avLst/>
          </a:prstGeom>
          <a:solidFill>
            <a:srgbClr val="006678"/>
          </a:solidFill>
          <a:ln>
            <a:solidFill>
              <a:srgbClr val="6382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0" y="3191256"/>
            <a:ext cx="1508760" cy="228600"/>
          </a:xfrm>
          <a:prstGeom prst="rect">
            <a:avLst/>
          </a:prstGeom>
          <a:noFill/>
        </p:spPr>
        <p:txBody>
          <a:bodyPr wrap="square" lIns="36576" rIns="36576" tIns="36576" bIns="36576" anchor="t">
            <a:spAutoFit/>
          </a:bodyPr>
          <a:lstStyle/>
          <a:p>
            <a:pPr algn="ctr">
              <a:defRPr sz="1200" b="1">
                <a:solidFill>
                  <a:srgbClr val="FFFFFF"/>
                </a:solidFill>
                <a:latin typeface="Aptos"/>
              </a:defRPr>
            </a:pPr>
            <a:r>
              <a:t>APIM</a:t>
            </a:r>
          </a:p>
        </p:txBody>
      </p:sp>
      <p:sp>
        <p:nvSpPr>
          <p:cNvPr id="17" name="Hexagon 16"/>
          <p:cNvSpPr/>
          <p:nvPr/>
        </p:nvSpPr>
        <p:spPr>
          <a:xfrm>
            <a:off x="8458200" y="4315968"/>
            <a:ext cx="1508760" cy="914400"/>
          </a:xfrm>
          <a:prstGeom prst="hexagon">
            <a:avLst/>
          </a:prstGeom>
          <a:solidFill>
            <a:srgbClr val="226B53"/>
          </a:solidFill>
          <a:ln>
            <a:solidFill>
              <a:srgbClr val="6382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4608576"/>
            <a:ext cx="1508760" cy="228600"/>
          </a:xfrm>
          <a:prstGeom prst="rect">
            <a:avLst/>
          </a:prstGeom>
          <a:noFill/>
        </p:spPr>
        <p:txBody>
          <a:bodyPr wrap="square" lIns="36576" rIns="36576" tIns="36576" bIns="36576" anchor="t">
            <a:spAutoFit/>
          </a:bodyPr>
          <a:lstStyle/>
          <a:p>
            <a:pPr algn="ctr">
              <a:defRPr sz="1200" b="1">
                <a:solidFill>
                  <a:srgbClr val="FFFFFF"/>
                </a:solidFill>
                <a:latin typeface="Aptos"/>
              </a:defRPr>
            </a:pPr>
            <a:r>
              <a:t>FOUNDRY</a:t>
            </a:r>
          </a:p>
        </p:txBody>
      </p:sp>
      <p:sp>
        <p:nvSpPr>
          <p:cNvPr id="19" name="TextBox 18"/>
          <p:cNvSpPr txBox="1"/>
          <p:nvPr/>
        </p:nvSpPr>
        <p:spPr>
          <a:xfrm>
            <a:off x="749808" y="6318504"/>
            <a:ext cx="3840480" cy="182880"/>
          </a:xfrm>
          <a:prstGeom prst="rect">
            <a:avLst/>
          </a:prstGeom>
          <a:noFill/>
        </p:spPr>
        <p:txBody>
          <a:bodyPr wrap="square" lIns="36576" rIns="36576" tIns="36576" bIns="36576" anchor="t">
            <a:spAutoFit/>
          </a:bodyPr>
          <a:lstStyle/>
          <a:p>
            <a:pPr algn="l">
              <a:defRPr sz="900" b="1">
                <a:solidFill>
                  <a:srgbClr val="93A9B4"/>
                </a:solidFill>
                <a:latin typeface="Aptos"/>
              </a:defRPr>
            </a:pPr>
            <a:r>
              <a:t>PRESENTATION BRIEF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TextBox 1"/>
          <p:cNvSpPr txBox="1"/>
          <p:nvPr/>
        </p:nvSpPr>
        <p:spPr>
          <a:xfrm>
            <a:off x="530352" y="347472"/>
            <a:ext cx="502920" cy="310896"/>
          </a:xfrm>
          <a:prstGeom prst="rect">
            <a:avLst/>
          </a:prstGeom>
          <a:noFill/>
        </p:spPr>
        <p:txBody>
          <a:bodyPr wrap="square" lIns="36576" rIns="36576" tIns="36576" bIns="36576" anchor="t">
            <a:spAutoFit/>
          </a:bodyPr>
          <a:lstStyle/>
          <a:p>
            <a:pPr algn="l">
              <a:defRPr sz="1300" b="1">
                <a:solidFill>
                  <a:srgbClr val="00788C"/>
                </a:solidFill>
                <a:latin typeface="Aptos"/>
              </a:defRPr>
            </a:pPr>
            <a:r>
              <a:t>02</a:t>
            </a:r>
          </a:p>
        </p:txBody>
      </p:sp>
      <p:sp>
        <p:nvSpPr>
          <p:cNvPr id="3" name="TextBox 2"/>
          <p:cNvSpPr txBox="1"/>
          <p:nvPr/>
        </p:nvSpPr>
        <p:spPr>
          <a:xfrm>
            <a:off x="1024128" y="347472"/>
            <a:ext cx="4389120" cy="256032"/>
          </a:xfrm>
          <a:prstGeom prst="rect">
            <a:avLst/>
          </a:prstGeom>
          <a:noFill/>
        </p:spPr>
        <p:txBody>
          <a:bodyPr wrap="square" lIns="36576" rIns="36576" tIns="36576" bIns="36576" anchor="t">
            <a:spAutoFit/>
          </a:bodyPr>
          <a:lstStyle/>
          <a:p>
            <a:pPr algn="l">
              <a:defRPr sz="1000" b="1">
                <a:solidFill>
                  <a:srgbClr val="5B6B77"/>
                </a:solidFill>
                <a:latin typeface="Aptos"/>
              </a:defRPr>
            </a:pPr>
            <a:r>
              <a:t>WHY THIS WORK MATTERS</a:t>
            </a:r>
          </a:p>
        </p:txBody>
      </p:sp>
      <p:sp>
        <p:nvSpPr>
          <p:cNvPr id="4" name="TextBox 3"/>
          <p:cNvSpPr txBox="1"/>
          <p:nvPr/>
        </p:nvSpPr>
        <p:spPr>
          <a:xfrm>
            <a:off x="530352" y="713232"/>
            <a:ext cx="10972800" cy="658368"/>
          </a:xfrm>
          <a:prstGeom prst="rect">
            <a:avLst/>
          </a:prstGeom>
          <a:noFill/>
        </p:spPr>
        <p:txBody>
          <a:bodyPr wrap="square" lIns="36576" rIns="36576" tIns="36576" bIns="36576" anchor="t">
            <a:spAutoFit/>
          </a:bodyPr>
          <a:lstStyle/>
          <a:p>
            <a:pPr algn="l">
              <a:defRPr sz="2800" b="1">
                <a:solidFill>
                  <a:srgbClr val="122334"/>
                </a:solidFill>
                <a:latin typeface="Aptos Display"/>
              </a:defRPr>
            </a:pPr>
            <a:r>
              <a:t>The customer problem we solved</a:t>
            </a:r>
          </a:p>
        </p:txBody>
      </p:sp>
      <p:sp>
        <p:nvSpPr>
          <p:cNvPr id="5" name="Rectangle 4"/>
          <p:cNvSpPr/>
          <p:nvPr/>
        </p:nvSpPr>
        <p:spPr>
          <a:xfrm>
            <a:off x="566928" y="1344168"/>
            <a:ext cx="914400" cy="45720"/>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700784"/>
            <a:ext cx="3456432" cy="3246120"/>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700784"/>
            <a:ext cx="73152" cy="3246120"/>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83664"/>
            <a:ext cx="3072384" cy="329184"/>
          </a:xfrm>
          <a:prstGeom prst="rect">
            <a:avLst/>
          </a:prstGeom>
          <a:noFill/>
        </p:spPr>
        <p:txBody>
          <a:bodyPr wrap="square" lIns="36576" rIns="36576" tIns="36576" bIns="36576" anchor="t">
            <a:spAutoFit/>
          </a:bodyPr>
          <a:lstStyle/>
          <a:p>
            <a:pPr algn="l">
              <a:defRPr sz="1600" b="1">
                <a:solidFill>
                  <a:srgbClr val="122334"/>
                </a:solidFill>
                <a:latin typeface="Aptos"/>
              </a:defRPr>
            </a:pPr>
            <a:r>
              <a:t>Developer experience</a:t>
            </a:r>
          </a:p>
        </p:txBody>
      </p:sp>
      <p:sp>
        <p:nvSpPr>
          <p:cNvPr id="9" name="TextBox 8"/>
          <p:cNvSpPr txBox="1"/>
          <p:nvPr/>
        </p:nvSpPr>
        <p:spPr>
          <a:xfrm>
            <a:off x="786384" y="2331720"/>
            <a:ext cx="3072384" cy="2459736"/>
          </a:xfrm>
          <a:prstGeom prst="rect">
            <a:avLst/>
          </a:prstGeom>
          <a:noFill/>
        </p:spPr>
        <p:txBody>
          <a:bodyPr wrap="square" lIns="36576" rIns="36576" tIns="36576" bIns="36576" anchor="t">
            <a:spAutoFit/>
          </a:bodyPr>
          <a:lstStyle/>
          <a:p>
            <a:pPr algn="l">
              <a:defRPr sz="1200" b="0">
                <a:solidFill>
                  <a:srgbClr val="5B6B77"/>
                </a:solidFill>
                <a:latin typeface="Aptos"/>
              </a:defRPr>
            </a:pPr>
            <a:r>
              <a:t>Teams want AI-assisted coding in Copilot CLI and VS Code without learning a separate tool or workflow.</a:t>
            </a:r>
          </a:p>
        </p:txBody>
      </p:sp>
      <p:sp>
        <p:nvSpPr>
          <p:cNvPr id="10" name="Rounded Rectangle 9"/>
          <p:cNvSpPr/>
          <p:nvPr/>
        </p:nvSpPr>
        <p:spPr>
          <a:xfrm>
            <a:off x="4370832" y="1700784"/>
            <a:ext cx="3456432" cy="3246120"/>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70832" y="1700784"/>
            <a:ext cx="73152" cy="3246120"/>
          </a:xfrm>
          <a:prstGeom prst="rect">
            <a:avLst/>
          </a:prstGeom>
          <a:solidFill>
            <a:srgbClr val="B043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1883664"/>
            <a:ext cx="3072384" cy="329184"/>
          </a:xfrm>
          <a:prstGeom prst="rect">
            <a:avLst/>
          </a:prstGeom>
          <a:noFill/>
        </p:spPr>
        <p:txBody>
          <a:bodyPr wrap="square" lIns="36576" rIns="36576" tIns="36576" bIns="36576" anchor="t">
            <a:spAutoFit/>
          </a:bodyPr>
          <a:lstStyle/>
          <a:p>
            <a:pPr algn="l">
              <a:defRPr sz="1600" b="1">
                <a:solidFill>
                  <a:srgbClr val="122334"/>
                </a:solidFill>
                <a:latin typeface="Aptos"/>
              </a:defRPr>
            </a:pPr>
            <a:r>
              <a:t>Regulated trust boundary</a:t>
            </a:r>
          </a:p>
        </p:txBody>
      </p:sp>
      <p:sp>
        <p:nvSpPr>
          <p:cNvPr id="13" name="TextBox 12"/>
          <p:cNvSpPr txBox="1"/>
          <p:nvPr/>
        </p:nvSpPr>
        <p:spPr>
          <a:xfrm>
            <a:off x="4590288" y="2331720"/>
            <a:ext cx="3072384" cy="2459736"/>
          </a:xfrm>
          <a:prstGeom prst="rect">
            <a:avLst/>
          </a:prstGeom>
          <a:noFill/>
        </p:spPr>
        <p:txBody>
          <a:bodyPr wrap="square" lIns="36576" rIns="36576" tIns="36576" bIns="36576" anchor="t">
            <a:spAutoFit/>
          </a:bodyPr>
          <a:lstStyle/>
          <a:p>
            <a:pPr algn="l">
              <a:defRPr sz="1200" b="0">
                <a:solidFill>
                  <a:srgbClr val="5B6B77"/>
                </a:solidFill>
                <a:latin typeface="Aptos"/>
              </a:defRPr>
            </a:pPr>
            <a:r>
              <a:t>Security needs a private model data plane, controlled identities, centralized policy, and a defensible traffic path.</a:t>
            </a:r>
          </a:p>
        </p:txBody>
      </p:sp>
      <p:sp>
        <p:nvSpPr>
          <p:cNvPr id="14" name="Rounded Rectangle 13"/>
          <p:cNvSpPr/>
          <p:nvPr/>
        </p:nvSpPr>
        <p:spPr>
          <a:xfrm>
            <a:off x="8174736" y="1700784"/>
            <a:ext cx="3456432" cy="3246120"/>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74736" y="1700784"/>
            <a:ext cx="73152" cy="3246120"/>
          </a:xfrm>
          <a:prstGeom prst="rect">
            <a:avLst/>
          </a:prstGeom>
          <a:solidFill>
            <a:srgbClr val="2A8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4192" y="1883664"/>
            <a:ext cx="3072384" cy="329184"/>
          </a:xfrm>
          <a:prstGeom prst="rect">
            <a:avLst/>
          </a:prstGeom>
          <a:noFill/>
        </p:spPr>
        <p:txBody>
          <a:bodyPr wrap="square" lIns="36576" rIns="36576" tIns="36576" bIns="36576" anchor="t">
            <a:spAutoFit/>
          </a:bodyPr>
          <a:lstStyle/>
          <a:p>
            <a:pPr algn="l">
              <a:defRPr sz="1600" b="1">
                <a:solidFill>
                  <a:srgbClr val="122334"/>
                </a:solidFill>
                <a:latin typeface="Aptos"/>
              </a:defRPr>
            </a:pPr>
            <a:r>
              <a:t>Repeatable delivery</a:t>
            </a:r>
          </a:p>
        </p:txBody>
      </p:sp>
      <p:sp>
        <p:nvSpPr>
          <p:cNvPr id="17" name="TextBox 16"/>
          <p:cNvSpPr txBox="1"/>
          <p:nvPr/>
        </p:nvSpPr>
        <p:spPr>
          <a:xfrm>
            <a:off x="8394192" y="2331720"/>
            <a:ext cx="3072384" cy="2459736"/>
          </a:xfrm>
          <a:prstGeom prst="rect">
            <a:avLst/>
          </a:prstGeom>
          <a:noFill/>
        </p:spPr>
        <p:txBody>
          <a:bodyPr wrap="square" lIns="36576" rIns="36576" tIns="36576" bIns="36576" anchor="t">
            <a:spAutoFit/>
          </a:bodyPr>
          <a:lstStyle/>
          <a:p>
            <a:pPr algn="l">
              <a:defRPr sz="1200" b="0">
                <a:solidFill>
                  <a:srgbClr val="5B6B77"/>
                </a:solidFill>
                <a:latin typeface="Aptos"/>
              </a:defRPr>
            </a:pPr>
            <a:r>
              <a:t>Platform teams need one maintainable implementation across Commercial and Government, not a bespoke rebuild per customer.</a:t>
            </a:r>
          </a:p>
        </p:txBody>
      </p:sp>
      <p:sp>
        <p:nvSpPr>
          <p:cNvPr id="18" name="Rounded Rectangle 17"/>
          <p:cNvSpPr/>
          <p:nvPr/>
        </p:nvSpPr>
        <p:spPr>
          <a:xfrm>
            <a:off x="1572768" y="5321808"/>
            <a:ext cx="9052560" cy="749808"/>
          </a:xfrm>
          <a:prstGeom prst="roundRect">
            <a:avLst/>
          </a:prstGeom>
          <a:solidFill>
            <a:srgbClr val="12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10512" y="5550408"/>
            <a:ext cx="1051560" cy="210312"/>
          </a:xfrm>
          <a:prstGeom prst="rect">
            <a:avLst/>
          </a:prstGeom>
          <a:noFill/>
        </p:spPr>
        <p:txBody>
          <a:bodyPr wrap="square" lIns="36576" rIns="36576" tIns="36576" bIns="36576" anchor="t">
            <a:spAutoFit/>
          </a:bodyPr>
          <a:lstStyle/>
          <a:p>
            <a:pPr algn="l">
              <a:defRPr sz="1000" b="1">
                <a:solidFill>
                  <a:srgbClr val="E6AE2D"/>
                </a:solidFill>
                <a:latin typeface="Aptos"/>
              </a:defRPr>
            </a:pPr>
            <a:r>
              <a:t>THE ANSWER</a:t>
            </a:r>
          </a:p>
        </p:txBody>
      </p:sp>
      <p:sp>
        <p:nvSpPr>
          <p:cNvPr id="20" name="TextBox 19"/>
          <p:cNvSpPr txBox="1"/>
          <p:nvPr/>
        </p:nvSpPr>
        <p:spPr>
          <a:xfrm>
            <a:off x="2852928" y="5468112"/>
            <a:ext cx="7269480" cy="329184"/>
          </a:xfrm>
          <a:prstGeom prst="rect">
            <a:avLst/>
          </a:prstGeom>
          <a:noFill/>
        </p:spPr>
        <p:txBody>
          <a:bodyPr wrap="square" lIns="36576" rIns="36576" tIns="36576" bIns="36576" anchor="t">
            <a:spAutoFit/>
          </a:bodyPr>
          <a:lstStyle/>
          <a:p>
            <a:pPr algn="l">
              <a:defRPr sz="1800" b="1">
                <a:solidFill>
                  <a:srgbClr val="FFFFFF"/>
                </a:solidFill>
                <a:latin typeface="Aptos"/>
              </a:defRPr>
            </a:pPr>
            <a:r>
              <a:t>Internal APIM AI gateway → private Microsoft Foundry</a:t>
            </a:r>
          </a:p>
        </p:txBody>
      </p:sp>
      <p:sp>
        <p:nvSpPr>
          <p:cNvPr id="21" name="TextBox 20"/>
          <p:cNvSpPr txBox="1"/>
          <p:nvPr/>
        </p:nvSpPr>
        <p:spPr>
          <a:xfrm>
            <a:off x="566928" y="6565392"/>
            <a:ext cx="5669280" cy="164592"/>
          </a:xfrm>
          <a:prstGeom prst="rect">
            <a:avLst/>
          </a:prstGeom>
          <a:noFill/>
        </p:spPr>
        <p:txBody>
          <a:bodyPr wrap="square" lIns="36576" rIns="36576" tIns="36576" bIns="36576" anchor="t">
            <a:spAutoFit/>
          </a:bodyPr>
          <a:lstStyle/>
          <a:p>
            <a:pPr algn="l">
              <a:defRPr sz="800" b="1">
                <a:solidFill>
                  <a:srgbClr val="5B6B77"/>
                </a:solidFill>
                <a:latin typeface="Aptos"/>
              </a:defRPr>
            </a:pPr>
            <a:r>
              <a:t>PRIVATE COPILOT | CUSTOMER-CONTROLLED AI</a:t>
            </a:r>
          </a:p>
        </p:txBody>
      </p:sp>
      <p:sp>
        <p:nvSpPr>
          <p:cNvPr id="22" name="TextBox 21"/>
          <p:cNvSpPr txBox="1"/>
          <p:nvPr/>
        </p:nvSpPr>
        <p:spPr>
          <a:xfrm>
            <a:off x="9217152" y="6565392"/>
            <a:ext cx="2395728" cy="164592"/>
          </a:xfrm>
          <a:prstGeom prst="rect">
            <a:avLst/>
          </a:prstGeom>
          <a:noFill/>
        </p:spPr>
        <p:txBody>
          <a:bodyPr wrap="square" lIns="36576" rIns="36576" tIns="36576" bIns="36576" anchor="t">
            <a:spAutoFit/>
          </a:bodyPr>
          <a:lstStyle/>
          <a:p>
            <a:pPr algn="r">
              <a:defRPr sz="800" b="1">
                <a:solidFill>
                  <a:srgbClr val="5B6B77"/>
                </a:solidFill>
                <a:latin typeface="Aptos"/>
              </a:defRPr>
            </a:pPr>
            <a:r>
              <a:t>AZURE GOVERNMENT + COMMERCIAL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TextBox 1"/>
          <p:cNvSpPr txBox="1"/>
          <p:nvPr/>
        </p:nvSpPr>
        <p:spPr>
          <a:xfrm>
            <a:off x="530352" y="347472"/>
            <a:ext cx="502920" cy="310896"/>
          </a:xfrm>
          <a:prstGeom prst="rect">
            <a:avLst/>
          </a:prstGeom>
          <a:noFill/>
        </p:spPr>
        <p:txBody>
          <a:bodyPr wrap="square" lIns="36576" rIns="36576" tIns="36576" bIns="36576" anchor="t">
            <a:spAutoFit/>
          </a:bodyPr>
          <a:lstStyle/>
          <a:p>
            <a:pPr algn="l">
              <a:defRPr sz="1300" b="1">
                <a:solidFill>
                  <a:srgbClr val="00788C"/>
                </a:solidFill>
                <a:latin typeface="Aptos"/>
              </a:defRPr>
            </a:pPr>
            <a:r>
              <a:t>03</a:t>
            </a:r>
          </a:p>
        </p:txBody>
      </p:sp>
      <p:sp>
        <p:nvSpPr>
          <p:cNvPr id="3" name="TextBox 2"/>
          <p:cNvSpPr txBox="1"/>
          <p:nvPr/>
        </p:nvSpPr>
        <p:spPr>
          <a:xfrm>
            <a:off x="1024128" y="347472"/>
            <a:ext cx="4389120" cy="256032"/>
          </a:xfrm>
          <a:prstGeom prst="rect">
            <a:avLst/>
          </a:prstGeom>
          <a:noFill/>
        </p:spPr>
        <p:txBody>
          <a:bodyPr wrap="square" lIns="36576" rIns="36576" tIns="36576" bIns="36576" anchor="t">
            <a:spAutoFit/>
          </a:bodyPr>
          <a:lstStyle/>
          <a:p>
            <a:pPr algn="l">
              <a:defRPr sz="1000" b="1">
                <a:solidFill>
                  <a:srgbClr val="5B6B77"/>
                </a:solidFill>
                <a:latin typeface="Aptos"/>
              </a:defRPr>
            </a:pPr>
            <a:r>
              <a:t>ARCHITECTURE</a:t>
            </a:r>
          </a:p>
        </p:txBody>
      </p:sp>
      <p:sp>
        <p:nvSpPr>
          <p:cNvPr id="4" name="TextBox 3"/>
          <p:cNvSpPr txBox="1"/>
          <p:nvPr/>
        </p:nvSpPr>
        <p:spPr>
          <a:xfrm>
            <a:off x="530352" y="713232"/>
            <a:ext cx="10972800" cy="658368"/>
          </a:xfrm>
          <a:prstGeom prst="rect">
            <a:avLst/>
          </a:prstGeom>
          <a:noFill/>
        </p:spPr>
        <p:txBody>
          <a:bodyPr wrap="square" lIns="36576" rIns="36576" tIns="36576" bIns="36576" anchor="t">
            <a:spAutoFit/>
          </a:bodyPr>
          <a:lstStyle/>
          <a:p>
            <a:pPr algn="l">
              <a:defRPr sz="2800" b="1">
                <a:solidFill>
                  <a:srgbClr val="122334"/>
                </a:solidFill>
                <a:latin typeface="Aptos Display"/>
              </a:defRPr>
            </a:pPr>
            <a:r>
              <a:t>How a request flows</a:t>
            </a:r>
          </a:p>
        </p:txBody>
      </p:sp>
      <p:sp>
        <p:nvSpPr>
          <p:cNvPr id="5" name="Rectangle 4"/>
          <p:cNvSpPr/>
          <p:nvPr/>
        </p:nvSpPr>
        <p:spPr>
          <a:xfrm>
            <a:off x="566928" y="1344168"/>
            <a:ext cx="914400" cy="45720"/>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30352" y="1874519"/>
            <a:ext cx="2057400" cy="1417320"/>
          </a:xfrm>
          <a:prstGeom prst="roundRect">
            <a:avLst/>
          </a:prstGeom>
          <a:solidFill>
            <a:srgbClr val="DAF1F4"/>
          </a:solidFill>
          <a:ln w="15240">
            <a:solidFill>
              <a:srgbClr val="007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2057400"/>
            <a:ext cx="1728216" cy="228600"/>
          </a:xfrm>
          <a:prstGeom prst="rect">
            <a:avLst/>
          </a:prstGeom>
          <a:noFill/>
        </p:spPr>
        <p:txBody>
          <a:bodyPr wrap="square" lIns="36576" rIns="36576" tIns="36576" bIns="36576" anchor="t">
            <a:spAutoFit/>
          </a:bodyPr>
          <a:lstStyle/>
          <a:p>
            <a:pPr algn="l">
              <a:defRPr sz="1100" b="1">
                <a:solidFill>
                  <a:srgbClr val="00788C"/>
                </a:solidFill>
                <a:latin typeface="Aptos"/>
              </a:defRPr>
            </a:pPr>
            <a:r>
              <a:t>1  DEVELOPER</a:t>
            </a:r>
          </a:p>
        </p:txBody>
      </p:sp>
      <p:sp>
        <p:nvSpPr>
          <p:cNvPr id="8" name="TextBox 7"/>
          <p:cNvSpPr txBox="1"/>
          <p:nvPr/>
        </p:nvSpPr>
        <p:spPr>
          <a:xfrm>
            <a:off x="694944" y="2459736"/>
            <a:ext cx="1728216" cy="603504"/>
          </a:xfrm>
          <a:prstGeom prst="rect">
            <a:avLst/>
          </a:prstGeom>
          <a:noFill/>
        </p:spPr>
        <p:txBody>
          <a:bodyPr wrap="square" lIns="36576" rIns="36576" tIns="36576" bIns="36576" anchor="t">
            <a:spAutoFit/>
          </a:bodyPr>
          <a:lstStyle/>
          <a:p>
            <a:pPr algn="l">
              <a:defRPr sz="1600" b="1">
                <a:solidFill>
                  <a:srgbClr val="122334"/>
                </a:solidFill>
                <a:latin typeface="Aptos"/>
              </a:defRPr>
            </a:pPr>
            <a:r>
              <a:t>Copilot CLI</a:t>
            </a:r>
            <a:br/>
            <a:r>
              <a:t>or VS Code</a:t>
            </a:r>
          </a:p>
        </p:txBody>
      </p:sp>
      <p:sp>
        <p:nvSpPr>
          <p:cNvPr id="9" name="Rounded Rectangle 8"/>
          <p:cNvSpPr/>
          <p:nvPr/>
        </p:nvSpPr>
        <p:spPr>
          <a:xfrm>
            <a:off x="3063240" y="1874519"/>
            <a:ext cx="2240280" cy="1417320"/>
          </a:xfrm>
          <a:prstGeom prst="roundRect">
            <a:avLst/>
          </a:prstGeom>
          <a:solidFill>
            <a:srgbClr val="FCF2D2"/>
          </a:solidFill>
          <a:ln w="15240">
            <a:solidFill>
              <a:srgbClr val="E6AE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7832" y="2057400"/>
            <a:ext cx="1911096" cy="228600"/>
          </a:xfrm>
          <a:prstGeom prst="rect">
            <a:avLst/>
          </a:prstGeom>
          <a:noFill/>
        </p:spPr>
        <p:txBody>
          <a:bodyPr wrap="square" lIns="36576" rIns="36576" tIns="36576" bIns="36576" anchor="t">
            <a:spAutoFit/>
          </a:bodyPr>
          <a:lstStyle/>
          <a:p>
            <a:pPr algn="l">
              <a:defRPr sz="1100" b="1">
                <a:solidFill>
                  <a:srgbClr val="E6AE2D"/>
                </a:solidFill>
                <a:latin typeface="Aptos"/>
              </a:defRPr>
            </a:pPr>
            <a:r>
              <a:t>2  PRIVATE ACCESS</a:t>
            </a:r>
          </a:p>
        </p:txBody>
      </p:sp>
      <p:sp>
        <p:nvSpPr>
          <p:cNvPr id="11" name="TextBox 10"/>
          <p:cNvSpPr txBox="1"/>
          <p:nvPr/>
        </p:nvSpPr>
        <p:spPr>
          <a:xfrm>
            <a:off x="3227832" y="2459736"/>
            <a:ext cx="1911096" cy="603504"/>
          </a:xfrm>
          <a:prstGeom prst="rect">
            <a:avLst/>
          </a:prstGeom>
          <a:noFill/>
        </p:spPr>
        <p:txBody>
          <a:bodyPr wrap="square" lIns="36576" rIns="36576" tIns="36576" bIns="36576" anchor="t">
            <a:spAutoFit/>
          </a:bodyPr>
          <a:lstStyle/>
          <a:p>
            <a:pPr algn="l">
              <a:defRPr sz="1600" b="1">
                <a:solidFill>
                  <a:srgbClr val="122334"/>
                </a:solidFill>
                <a:latin typeface="Aptos"/>
              </a:defRPr>
            </a:pPr>
            <a:r>
              <a:t>P2S VPN /</a:t>
            </a:r>
            <a:br/>
            <a:r>
              <a:t>in-VNet client</a:t>
            </a:r>
          </a:p>
        </p:txBody>
      </p:sp>
      <p:sp>
        <p:nvSpPr>
          <p:cNvPr id="12" name="Rounded Rectangle 11"/>
          <p:cNvSpPr/>
          <p:nvPr/>
        </p:nvSpPr>
        <p:spPr>
          <a:xfrm>
            <a:off x="5779008" y="1600200"/>
            <a:ext cx="2487168" cy="1417320"/>
          </a:xfrm>
          <a:prstGeom prst="roundRect">
            <a:avLst/>
          </a:prstGeom>
          <a:solidFill>
            <a:srgbClr val="E1EAF0"/>
          </a:solidFill>
          <a:ln w="15240">
            <a:solidFill>
              <a:srgbClr val="12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0" y="1783080"/>
            <a:ext cx="2157984" cy="228600"/>
          </a:xfrm>
          <a:prstGeom prst="rect">
            <a:avLst/>
          </a:prstGeom>
          <a:noFill/>
        </p:spPr>
        <p:txBody>
          <a:bodyPr wrap="square" lIns="36576" rIns="36576" tIns="36576" bIns="36576" anchor="t">
            <a:spAutoFit/>
          </a:bodyPr>
          <a:lstStyle/>
          <a:p>
            <a:pPr algn="l">
              <a:defRPr sz="1100" b="1">
                <a:solidFill>
                  <a:srgbClr val="122334"/>
                </a:solidFill>
                <a:latin typeface="Aptos"/>
              </a:defRPr>
            </a:pPr>
            <a:r>
              <a:t>3  AI GATEWAY</a:t>
            </a:r>
          </a:p>
        </p:txBody>
      </p:sp>
      <p:sp>
        <p:nvSpPr>
          <p:cNvPr id="14" name="TextBox 13"/>
          <p:cNvSpPr txBox="1"/>
          <p:nvPr/>
        </p:nvSpPr>
        <p:spPr>
          <a:xfrm>
            <a:off x="5943600" y="2185416"/>
            <a:ext cx="2157984" cy="603504"/>
          </a:xfrm>
          <a:prstGeom prst="rect">
            <a:avLst/>
          </a:prstGeom>
          <a:noFill/>
        </p:spPr>
        <p:txBody>
          <a:bodyPr wrap="square" lIns="36576" rIns="36576" tIns="36576" bIns="36576" anchor="t">
            <a:spAutoFit/>
          </a:bodyPr>
          <a:lstStyle/>
          <a:p>
            <a:pPr algn="l">
              <a:defRPr sz="1600" b="1">
                <a:solidFill>
                  <a:srgbClr val="122334"/>
                </a:solidFill>
                <a:latin typeface="Aptos"/>
              </a:defRPr>
            </a:pPr>
            <a:r>
              <a:t>Internal APIM</a:t>
            </a:r>
            <a:br/>
            <a:r>
              <a:t>auth • policy • route</a:t>
            </a:r>
          </a:p>
        </p:txBody>
      </p:sp>
      <p:sp>
        <p:nvSpPr>
          <p:cNvPr id="15" name="Rounded Rectangle 14"/>
          <p:cNvSpPr/>
          <p:nvPr/>
        </p:nvSpPr>
        <p:spPr>
          <a:xfrm>
            <a:off x="8759952" y="1874519"/>
            <a:ext cx="2423160" cy="1417320"/>
          </a:xfrm>
          <a:prstGeom prst="roundRect">
            <a:avLst/>
          </a:prstGeom>
          <a:solidFill>
            <a:srgbClr val="DEF2EA"/>
          </a:solidFill>
          <a:ln w="15240">
            <a:solidFill>
              <a:srgbClr val="2A8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24544" y="2057400"/>
            <a:ext cx="2093976" cy="228600"/>
          </a:xfrm>
          <a:prstGeom prst="rect">
            <a:avLst/>
          </a:prstGeom>
          <a:noFill/>
        </p:spPr>
        <p:txBody>
          <a:bodyPr wrap="square" lIns="36576" rIns="36576" tIns="36576" bIns="36576" anchor="t">
            <a:spAutoFit/>
          </a:bodyPr>
          <a:lstStyle/>
          <a:p>
            <a:pPr algn="l">
              <a:defRPr sz="1100" b="1">
                <a:solidFill>
                  <a:srgbClr val="2A8466"/>
                </a:solidFill>
                <a:latin typeface="Aptos"/>
              </a:defRPr>
            </a:pPr>
            <a:r>
              <a:t>4  PRIVATE MODEL</a:t>
            </a:r>
          </a:p>
        </p:txBody>
      </p:sp>
      <p:sp>
        <p:nvSpPr>
          <p:cNvPr id="17" name="TextBox 16"/>
          <p:cNvSpPr txBox="1"/>
          <p:nvPr/>
        </p:nvSpPr>
        <p:spPr>
          <a:xfrm>
            <a:off x="8924544" y="2459736"/>
            <a:ext cx="2093976" cy="603504"/>
          </a:xfrm>
          <a:prstGeom prst="rect">
            <a:avLst/>
          </a:prstGeom>
          <a:noFill/>
        </p:spPr>
        <p:txBody>
          <a:bodyPr wrap="square" lIns="36576" rIns="36576" tIns="36576" bIns="36576" anchor="t">
            <a:spAutoFit/>
          </a:bodyPr>
          <a:lstStyle/>
          <a:p>
            <a:pPr algn="l">
              <a:defRPr sz="1600" b="1">
                <a:solidFill>
                  <a:srgbClr val="122334"/>
                </a:solidFill>
                <a:latin typeface="Aptos"/>
              </a:defRPr>
            </a:pPr>
            <a:r>
              <a:t>Foundry via PE</a:t>
            </a:r>
            <a:br/>
            <a:r>
              <a:t>MI authentication</a:t>
            </a:r>
          </a:p>
        </p:txBody>
      </p:sp>
      <p:cxnSp>
        <p:nvCxnSpPr>
          <p:cNvPr id="18" name="Connector 17"/>
          <p:cNvCxnSpPr/>
          <p:nvPr/>
        </p:nvCxnSpPr>
        <p:spPr>
          <a:xfrm>
            <a:off x="2587752" y="2578608"/>
            <a:ext cx="475488" cy="0"/>
          </a:xfrm>
          <a:prstGeom prst="line">
            <a:avLst/>
          </a:prstGeom>
          <a:ln w="25400">
            <a:solidFill>
              <a:srgbClr val="00788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03520" y="2578608"/>
            <a:ext cx="475488" cy="0"/>
          </a:xfrm>
          <a:prstGeom prst="line">
            <a:avLst/>
          </a:prstGeom>
          <a:ln w="25400">
            <a:solidFill>
              <a:srgbClr val="00788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266175" y="2578608"/>
            <a:ext cx="493777" cy="0"/>
          </a:xfrm>
          <a:prstGeom prst="line">
            <a:avLst/>
          </a:prstGeom>
          <a:ln w="25400">
            <a:solidFill>
              <a:srgbClr val="00788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24528" y="4050791"/>
            <a:ext cx="3749039" cy="1252728"/>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24528" y="4050791"/>
            <a:ext cx="73152" cy="1252728"/>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43984" y="4233672"/>
            <a:ext cx="3364991" cy="329184"/>
          </a:xfrm>
          <a:prstGeom prst="rect">
            <a:avLst/>
          </a:prstGeom>
          <a:noFill/>
        </p:spPr>
        <p:txBody>
          <a:bodyPr wrap="square" lIns="36576" rIns="36576" tIns="36576" bIns="36576" anchor="t">
            <a:spAutoFit/>
          </a:bodyPr>
          <a:lstStyle/>
          <a:p>
            <a:pPr algn="l">
              <a:defRPr sz="1300" b="1">
                <a:solidFill>
                  <a:srgbClr val="122334"/>
                </a:solidFill>
                <a:latin typeface="Aptos"/>
              </a:defRPr>
            </a:pPr>
            <a:r>
              <a:t>OBSERVE + ATTRIBUTE</a:t>
            </a:r>
          </a:p>
        </p:txBody>
      </p:sp>
      <p:sp>
        <p:nvSpPr>
          <p:cNvPr id="24" name="TextBox 23"/>
          <p:cNvSpPr txBox="1"/>
          <p:nvPr/>
        </p:nvSpPr>
        <p:spPr>
          <a:xfrm>
            <a:off x="4443984" y="4681727"/>
            <a:ext cx="3364991" cy="466344"/>
          </a:xfrm>
          <a:prstGeom prst="rect">
            <a:avLst/>
          </a:prstGeom>
          <a:noFill/>
        </p:spPr>
        <p:txBody>
          <a:bodyPr wrap="square" lIns="36576" rIns="36576" tIns="36576" bIns="36576" anchor="t">
            <a:spAutoFit/>
          </a:bodyPr>
          <a:lstStyle/>
          <a:p>
            <a:pPr algn="l">
              <a:defRPr sz="1100" b="0">
                <a:solidFill>
                  <a:srgbClr val="5B6B77"/>
                </a:solidFill>
                <a:latin typeface="Aptos"/>
              </a:defRPr>
            </a:pPr>
            <a:r>
              <a:t>Log Analytics / App Insights</a:t>
            </a:r>
            <a:br/>
            <a:r>
              <a:t>per developer • per model • throttles</a:t>
            </a:r>
          </a:p>
        </p:txBody>
      </p:sp>
      <p:cxnSp>
        <p:nvCxnSpPr>
          <p:cNvPr id="25" name="Connector 24"/>
          <p:cNvCxnSpPr/>
          <p:nvPr/>
        </p:nvCxnSpPr>
        <p:spPr>
          <a:xfrm flipH="1">
            <a:off x="6419088" y="3017520"/>
            <a:ext cx="603504" cy="1033271"/>
          </a:xfrm>
          <a:prstGeom prst="line">
            <a:avLst/>
          </a:prstGeom>
          <a:ln w="17780">
            <a:solidFill>
              <a:srgbClr val="00788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1792" y="5687568"/>
            <a:ext cx="2816352" cy="329184"/>
          </a:xfrm>
          <a:prstGeom prst="roundRect">
            <a:avLst/>
          </a:prstGeom>
          <a:solidFill>
            <a:srgbClr val="F7E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705855"/>
            <a:ext cx="2816352" cy="237744"/>
          </a:xfrm>
          <a:prstGeom prst="rect">
            <a:avLst/>
          </a:prstGeom>
          <a:noFill/>
        </p:spPr>
        <p:txBody>
          <a:bodyPr wrap="square" lIns="36576" rIns="36576" tIns="36576" bIns="36576" anchor="t">
            <a:spAutoFit/>
          </a:bodyPr>
          <a:lstStyle/>
          <a:p>
            <a:pPr algn="ctr">
              <a:defRPr sz="1000" b="1">
                <a:solidFill>
                  <a:srgbClr val="B0433F"/>
                </a:solidFill>
                <a:latin typeface="Aptos"/>
              </a:defRPr>
            </a:pPr>
            <a:r>
              <a:t>CALLER CREDENTIAL STOPS AT APIM</a:t>
            </a:r>
          </a:p>
        </p:txBody>
      </p:sp>
      <p:sp>
        <p:nvSpPr>
          <p:cNvPr id="28" name="Rounded Rectangle 27"/>
          <p:cNvSpPr/>
          <p:nvPr/>
        </p:nvSpPr>
        <p:spPr>
          <a:xfrm>
            <a:off x="3712463" y="5687568"/>
            <a:ext cx="2487168" cy="329184"/>
          </a:xfrm>
          <a:prstGeom prst="roundRect">
            <a:avLst/>
          </a:prstGeom>
          <a:solidFill>
            <a:srgbClr val="DE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12463" y="5705855"/>
            <a:ext cx="2487168" cy="237744"/>
          </a:xfrm>
          <a:prstGeom prst="rect">
            <a:avLst/>
          </a:prstGeom>
          <a:noFill/>
        </p:spPr>
        <p:txBody>
          <a:bodyPr wrap="square" lIns="36576" rIns="36576" tIns="36576" bIns="36576" anchor="t">
            <a:spAutoFit/>
          </a:bodyPr>
          <a:lstStyle/>
          <a:p>
            <a:pPr algn="ctr">
              <a:defRPr sz="1000" b="1">
                <a:solidFill>
                  <a:srgbClr val="2A8466"/>
                </a:solidFill>
                <a:latin typeface="Aptos"/>
              </a:defRPr>
            </a:pPr>
            <a:r>
              <a:t>PUBLIC MODEL ACCESS OFF</a:t>
            </a:r>
          </a:p>
        </p:txBody>
      </p:sp>
      <p:sp>
        <p:nvSpPr>
          <p:cNvPr id="30" name="Rounded Rectangle 29"/>
          <p:cNvSpPr/>
          <p:nvPr/>
        </p:nvSpPr>
        <p:spPr>
          <a:xfrm>
            <a:off x="6473952" y="5687568"/>
            <a:ext cx="1965960" cy="329184"/>
          </a:xfrm>
          <a:prstGeom prst="roundRect">
            <a:avLst/>
          </a:prstGeom>
          <a:solidFill>
            <a:srgbClr val="DE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3952" y="5705855"/>
            <a:ext cx="1965960" cy="237744"/>
          </a:xfrm>
          <a:prstGeom prst="rect">
            <a:avLst/>
          </a:prstGeom>
          <a:noFill/>
        </p:spPr>
        <p:txBody>
          <a:bodyPr wrap="square" lIns="36576" rIns="36576" tIns="36576" bIns="36576" anchor="t">
            <a:spAutoFit/>
          </a:bodyPr>
          <a:lstStyle/>
          <a:p>
            <a:pPr algn="ctr">
              <a:defRPr sz="1000" b="1">
                <a:solidFill>
                  <a:srgbClr val="2A8466"/>
                </a:solidFill>
                <a:latin typeface="Aptos"/>
              </a:defRPr>
            </a:pPr>
            <a:r>
              <a:t>BACKEND KEYS OFF</a:t>
            </a:r>
          </a:p>
        </p:txBody>
      </p:sp>
      <p:sp>
        <p:nvSpPr>
          <p:cNvPr id="32" name="Rounded Rectangle 31"/>
          <p:cNvSpPr/>
          <p:nvPr/>
        </p:nvSpPr>
        <p:spPr>
          <a:xfrm>
            <a:off x="8723376" y="5687568"/>
            <a:ext cx="2322576" cy="329184"/>
          </a:xfrm>
          <a:prstGeom prst="roundRect">
            <a:avLst/>
          </a:prstGeom>
          <a:solidFill>
            <a:srgbClr val="DAF1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23376" y="5705855"/>
            <a:ext cx="2322576" cy="237744"/>
          </a:xfrm>
          <a:prstGeom prst="rect">
            <a:avLst/>
          </a:prstGeom>
          <a:noFill/>
        </p:spPr>
        <p:txBody>
          <a:bodyPr wrap="square" lIns="36576" rIns="36576" tIns="36576" bIns="36576" anchor="t">
            <a:spAutoFit/>
          </a:bodyPr>
          <a:lstStyle/>
          <a:p>
            <a:pPr algn="ctr">
              <a:defRPr sz="1000" b="1">
                <a:solidFill>
                  <a:srgbClr val="00788C"/>
                </a:solidFill>
                <a:latin typeface="Aptos"/>
              </a:defRPr>
            </a:pPr>
            <a:r>
              <a:t>POLICY IN ONE PLACE</a:t>
            </a:r>
          </a:p>
        </p:txBody>
      </p:sp>
      <p:sp>
        <p:nvSpPr>
          <p:cNvPr id="34" name="TextBox 33"/>
          <p:cNvSpPr txBox="1"/>
          <p:nvPr/>
        </p:nvSpPr>
        <p:spPr>
          <a:xfrm>
            <a:off x="566928" y="6565392"/>
            <a:ext cx="5669280" cy="164592"/>
          </a:xfrm>
          <a:prstGeom prst="rect">
            <a:avLst/>
          </a:prstGeom>
          <a:noFill/>
        </p:spPr>
        <p:txBody>
          <a:bodyPr wrap="square" lIns="36576" rIns="36576" tIns="36576" bIns="36576" anchor="t">
            <a:spAutoFit/>
          </a:bodyPr>
          <a:lstStyle/>
          <a:p>
            <a:pPr algn="l">
              <a:defRPr sz="800" b="1">
                <a:solidFill>
                  <a:srgbClr val="5B6B77"/>
                </a:solidFill>
                <a:latin typeface="Aptos"/>
              </a:defRPr>
            </a:pPr>
            <a:r>
              <a:t>PRIVATE COPILOT | CUSTOMER-CONTROLLED AI</a:t>
            </a:r>
          </a:p>
        </p:txBody>
      </p:sp>
      <p:sp>
        <p:nvSpPr>
          <p:cNvPr id="35" name="TextBox 34"/>
          <p:cNvSpPr txBox="1"/>
          <p:nvPr/>
        </p:nvSpPr>
        <p:spPr>
          <a:xfrm>
            <a:off x="9217152" y="6565392"/>
            <a:ext cx="2395728" cy="164592"/>
          </a:xfrm>
          <a:prstGeom prst="rect">
            <a:avLst/>
          </a:prstGeom>
          <a:noFill/>
        </p:spPr>
        <p:txBody>
          <a:bodyPr wrap="square" lIns="36576" rIns="36576" tIns="36576" bIns="36576" anchor="t">
            <a:spAutoFit/>
          </a:bodyPr>
          <a:lstStyle/>
          <a:p>
            <a:pPr algn="r">
              <a:defRPr sz="800" b="1">
                <a:solidFill>
                  <a:srgbClr val="5B6B77"/>
                </a:solidFill>
                <a:latin typeface="Aptos"/>
              </a:defRPr>
            </a:pPr>
            <a:r>
              <a:t>AZURE GOVERNMENT + COMMERCIAL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TextBox 1"/>
          <p:cNvSpPr txBox="1"/>
          <p:nvPr/>
        </p:nvSpPr>
        <p:spPr>
          <a:xfrm>
            <a:off x="530352" y="347472"/>
            <a:ext cx="502920" cy="310896"/>
          </a:xfrm>
          <a:prstGeom prst="rect">
            <a:avLst/>
          </a:prstGeom>
          <a:noFill/>
        </p:spPr>
        <p:txBody>
          <a:bodyPr wrap="square" lIns="36576" rIns="36576" tIns="36576" bIns="36576" anchor="t">
            <a:spAutoFit/>
          </a:bodyPr>
          <a:lstStyle/>
          <a:p>
            <a:pPr algn="l">
              <a:defRPr sz="1300" b="1">
                <a:solidFill>
                  <a:srgbClr val="00788C"/>
                </a:solidFill>
                <a:latin typeface="Aptos"/>
              </a:defRPr>
            </a:pPr>
            <a:r>
              <a:t>04</a:t>
            </a:r>
          </a:p>
        </p:txBody>
      </p:sp>
      <p:sp>
        <p:nvSpPr>
          <p:cNvPr id="3" name="TextBox 2"/>
          <p:cNvSpPr txBox="1"/>
          <p:nvPr/>
        </p:nvSpPr>
        <p:spPr>
          <a:xfrm>
            <a:off x="1024128" y="347472"/>
            <a:ext cx="4389120" cy="256032"/>
          </a:xfrm>
          <a:prstGeom prst="rect">
            <a:avLst/>
          </a:prstGeom>
          <a:noFill/>
        </p:spPr>
        <p:txBody>
          <a:bodyPr wrap="square" lIns="36576" rIns="36576" tIns="36576" bIns="36576" anchor="t">
            <a:spAutoFit/>
          </a:bodyPr>
          <a:lstStyle/>
          <a:p>
            <a:pPr algn="l">
              <a:defRPr sz="1000" b="1">
                <a:solidFill>
                  <a:srgbClr val="5B6B77"/>
                </a:solidFill>
                <a:latin typeface="Aptos"/>
              </a:defRPr>
            </a:pPr>
            <a:r>
              <a:t>SOVEREIGN-CLOUD DESIGN</a:t>
            </a:r>
          </a:p>
        </p:txBody>
      </p:sp>
      <p:sp>
        <p:nvSpPr>
          <p:cNvPr id="4" name="TextBox 3"/>
          <p:cNvSpPr txBox="1"/>
          <p:nvPr/>
        </p:nvSpPr>
        <p:spPr>
          <a:xfrm>
            <a:off x="530352" y="713232"/>
            <a:ext cx="10972800" cy="658368"/>
          </a:xfrm>
          <a:prstGeom prst="rect">
            <a:avLst/>
          </a:prstGeom>
          <a:noFill/>
        </p:spPr>
        <p:txBody>
          <a:bodyPr wrap="square" lIns="36576" rIns="36576" tIns="36576" bIns="36576" anchor="t">
            <a:spAutoFit/>
          </a:bodyPr>
          <a:lstStyle/>
          <a:p>
            <a:pPr algn="l">
              <a:defRPr sz="2800" b="1">
                <a:solidFill>
                  <a:srgbClr val="122334"/>
                </a:solidFill>
                <a:latin typeface="Aptos Display"/>
              </a:defRPr>
            </a:pPr>
            <a:r>
              <a:t>Government is a profile, not a fork</a:t>
            </a:r>
          </a:p>
        </p:txBody>
      </p:sp>
      <p:sp>
        <p:nvSpPr>
          <p:cNvPr id="5" name="Rectangle 4"/>
          <p:cNvSpPr/>
          <p:nvPr/>
        </p:nvSpPr>
        <p:spPr>
          <a:xfrm>
            <a:off x="566928" y="1344168"/>
            <a:ext cx="914400" cy="45720"/>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82496"/>
            <a:ext cx="5321808" cy="4370832"/>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682496"/>
            <a:ext cx="73152" cy="4370832"/>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865376"/>
            <a:ext cx="4937760" cy="329184"/>
          </a:xfrm>
          <a:prstGeom prst="rect">
            <a:avLst/>
          </a:prstGeom>
          <a:noFill/>
        </p:spPr>
        <p:txBody>
          <a:bodyPr wrap="square" lIns="36576" rIns="36576" tIns="36576" bIns="36576" anchor="t">
            <a:spAutoFit/>
          </a:bodyPr>
          <a:lstStyle/>
          <a:p>
            <a:pPr algn="l">
              <a:defRPr sz="1600" b="1">
                <a:solidFill>
                  <a:srgbClr val="122334"/>
                </a:solidFill>
                <a:latin typeface="Aptos"/>
              </a:defRPr>
            </a:pPr>
            <a:r>
              <a:t>SAME DESIGN + CODEBASE</a:t>
            </a:r>
          </a:p>
        </p:txBody>
      </p:sp>
      <p:sp>
        <p:nvSpPr>
          <p:cNvPr id="9" name="TextBox 8"/>
          <p:cNvSpPr txBox="1"/>
          <p:nvPr/>
        </p:nvSpPr>
        <p:spPr>
          <a:xfrm>
            <a:off x="786384" y="2313432"/>
            <a:ext cx="4937760" cy="3584448"/>
          </a:xfrm>
          <a:prstGeom prst="rect">
            <a:avLst/>
          </a:prstGeom>
          <a:noFill/>
        </p:spPr>
        <p:txBody>
          <a:bodyPr wrap="square" lIns="36576" rIns="36576" tIns="36576" bIns="36576" anchor="t">
            <a:spAutoFit/>
          </a:bodyPr>
          <a:lstStyle/>
          <a:p>
            <a:pPr algn="l">
              <a:defRPr sz="1400" b="0">
                <a:solidFill>
                  <a:srgbClr val="5B6B77"/>
                </a:solidFill>
                <a:latin typeface="Aptos"/>
              </a:defRPr>
            </a:pPr>
            <a:r>
              <a:t>• One subscription-scope Bicep/azd implementation</a:t>
            </a:r>
            <a:br/>
            <a:br/>
            <a:r>
              <a:t>• Cloud profiles select authorities, audiences, DNS, regions, and endpoints</a:t>
            </a:r>
            <a:br/>
            <a:br/>
            <a:r>
              <a:t>• Same policy, operations, and deployment model</a:t>
            </a:r>
            <a:br/>
            <a:br/>
            <a:r>
              <a:t>• Default inference path stays private inside the Government tenant</a:t>
            </a:r>
          </a:p>
        </p:txBody>
      </p:sp>
      <p:sp>
        <p:nvSpPr>
          <p:cNvPr id="10" name="Rounded Rectangle 9"/>
          <p:cNvSpPr/>
          <p:nvPr/>
        </p:nvSpPr>
        <p:spPr>
          <a:xfrm>
            <a:off x="6254496" y="1682496"/>
            <a:ext cx="5367528" cy="4370832"/>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4496" y="1682496"/>
            <a:ext cx="73152" cy="4370832"/>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1865376"/>
            <a:ext cx="4983480" cy="329184"/>
          </a:xfrm>
          <a:prstGeom prst="rect">
            <a:avLst/>
          </a:prstGeom>
          <a:noFill/>
        </p:spPr>
        <p:txBody>
          <a:bodyPr wrap="square" lIns="36576" rIns="36576" tIns="36576" bIns="36576" anchor="t">
            <a:spAutoFit/>
          </a:bodyPr>
          <a:lstStyle/>
          <a:p>
            <a:pPr algn="l">
              <a:defRPr sz="1600" b="1">
                <a:solidFill>
                  <a:srgbClr val="122334"/>
                </a:solidFill>
                <a:latin typeface="Aptos"/>
              </a:defRPr>
            </a:pPr>
            <a:r>
              <a:t>GOV-SPECIFIC ENGINEERING</a:t>
            </a:r>
          </a:p>
        </p:txBody>
      </p:sp>
      <p:sp>
        <p:nvSpPr>
          <p:cNvPr id="13" name="TextBox 12"/>
          <p:cNvSpPr txBox="1"/>
          <p:nvPr/>
        </p:nvSpPr>
        <p:spPr>
          <a:xfrm>
            <a:off x="6473952" y="2313432"/>
            <a:ext cx="4983480" cy="3584448"/>
          </a:xfrm>
          <a:prstGeom prst="rect">
            <a:avLst/>
          </a:prstGeom>
          <a:noFill/>
        </p:spPr>
        <p:txBody>
          <a:bodyPr wrap="square" lIns="36576" rIns="36576" tIns="36576" bIns="36576" anchor="t">
            <a:spAutoFit/>
          </a:bodyPr>
          <a:lstStyle/>
          <a:p>
            <a:pPr algn="l">
              <a:defRPr sz="1400" b="0">
                <a:solidFill>
                  <a:srgbClr val="5B6B77"/>
                </a:solidFill>
                <a:latin typeface="Aptos"/>
              </a:defRPr>
            </a:pPr>
            <a:r>
              <a:t>• Classic APIM Developer for pilot; Premium for production</a:t>
            </a:r>
            <a:br/>
            <a:br/>
            <a:r>
              <a:t>• Sovereign Entra and Cognitive Services endpoints</a:t>
            </a:r>
            <a:br/>
            <a:br/>
            <a:r>
              <a:t>• VNet-injected self-hosted runners validate the private path</a:t>
            </a:r>
            <a:br/>
            <a:br/>
            <a:r>
              <a:t>• Workspace tables and portal/in-VNet telemetry checks</a:t>
            </a:r>
            <a:br/>
            <a:br/>
            <a:r>
              <a:t>• API-version and Responses routing proven against Gov behavior</a:t>
            </a:r>
          </a:p>
        </p:txBody>
      </p:sp>
      <p:sp>
        <p:nvSpPr>
          <p:cNvPr id="14" name="Rounded Rectangle 13"/>
          <p:cNvSpPr/>
          <p:nvPr/>
        </p:nvSpPr>
        <p:spPr>
          <a:xfrm>
            <a:off x="3941063" y="6153912"/>
            <a:ext cx="4297680" cy="329184"/>
          </a:xfrm>
          <a:prstGeom prst="roundRect">
            <a:avLst/>
          </a:prstGeom>
          <a:solidFill>
            <a:srgbClr val="E2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41063" y="6172200"/>
            <a:ext cx="4297680" cy="237744"/>
          </a:xfrm>
          <a:prstGeom prst="rect">
            <a:avLst/>
          </a:prstGeom>
          <a:noFill/>
        </p:spPr>
        <p:txBody>
          <a:bodyPr wrap="square" lIns="36576" rIns="36576" tIns="36576" bIns="36576" anchor="t">
            <a:spAutoFit/>
          </a:bodyPr>
          <a:lstStyle/>
          <a:p>
            <a:pPr algn="ctr">
              <a:defRPr sz="1000" b="1">
                <a:solidFill>
                  <a:srgbClr val="122334"/>
                </a:solidFill>
                <a:latin typeface="Aptos"/>
              </a:defRPr>
            </a:pPr>
            <a:r>
              <a:t>NO GOVERNMENT-SPECIFIC SOURCE BRANCH</a:t>
            </a:r>
          </a:p>
        </p:txBody>
      </p:sp>
      <p:sp>
        <p:nvSpPr>
          <p:cNvPr id="16" name="TextBox 15"/>
          <p:cNvSpPr txBox="1"/>
          <p:nvPr/>
        </p:nvSpPr>
        <p:spPr>
          <a:xfrm>
            <a:off x="566928" y="6565392"/>
            <a:ext cx="5669280" cy="164592"/>
          </a:xfrm>
          <a:prstGeom prst="rect">
            <a:avLst/>
          </a:prstGeom>
          <a:noFill/>
        </p:spPr>
        <p:txBody>
          <a:bodyPr wrap="square" lIns="36576" rIns="36576" tIns="36576" bIns="36576" anchor="t">
            <a:spAutoFit/>
          </a:bodyPr>
          <a:lstStyle/>
          <a:p>
            <a:pPr algn="l">
              <a:defRPr sz="800" b="1">
                <a:solidFill>
                  <a:srgbClr val="5B6B77"/>
                </a:solidFill>
                <a:latin typeface="Aptos"/>
              </a:defRPr>
            </a:pPr>
            <a:r>
              <a:t>PRIVATE COPILOT | CUSTOMER-CONTROLLED AI</a:t>
            </a:r>
          </a:p>
        </p:txBody>
      </p:sp>
      <p:sp>
        <p:nvSpPr>
          <p:cNvPr id="17" name="TextBox 16"/>
          <p:cNvSpPr txBox="1"/>
          <p:nvPr/>
        </p:nvSpPr>
        <p:spPr>
          <a:xfrm>
            <a:off x="9217152" y="6565392"/>
            <a:ext cx="2395728" cy="164592"/>
          </a:xfrm>
          <a:prstGeom prst="rect">
            <a:avLst/>
          </a:prstGeom>
          <a:noFill/>
        </p:spPr>
        <p:txBody>
          <a:bodyPr wrap="square" lIns="36576" rIns="36576" tIns="36576" bIns="36576" anchor="t">
            <a:spAutoFit/>
          </a:bodyPr>
          <a:lstStyle/>
          <a:p>
            <a:pPr algn="r">
              <a:defRPr sz="800" b="1">
                <a:solidFill>
                  <a:srgbClr val="5B6B77"/>
                </a:solidFill>
                <a:latin typeface="Aptos"/>
              </a:defRPr>
            </a:pPr>
            <a:r>
              <a:t>AZURE GOVERNMENT + COMMERCIAL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TextBox 1"/>
          <p:cNvSpPr txBox="1"/>
          <p:nvPr/>
        </p:nvSpPr>
        <p:spPr>
          <a:xfrm>
            <a:off x="530352" y="347472"/>
            <a:ext cx="502920" cy="310896"/>
          </a:xfrm>
          <a:prstGeom prst="rect">
            <a:avLst/>
          </a:prstGeom>
          <a:noFill/>
        </p:spPr>
        <p:txBody>
          <a:bodyPr wrap="square" lIns="36576" rIns="36576" tIns="36576" bIns="36576" anchor="t">
            <a:spAutoFit/>
          </a:bodyPr>
          <a:lstStyle/>
          <a:p>
            <a:pPr algn="l">
              <a:defRPr sz="1300" b="1">
                <a:solidFill>
                  <a:srgbClr val="00788C"/>
                </a:solidFill>
                <a:latin typeface="Aptos"/>
              </a:defRPr>
            </a:pPr>
            <a:r>
              <a:t>05</a:t>
            </a:r>
          </a:p>
        </p:txBody>
      </p:sp>
      <p:sp>
        <p:nvSpPr>
          <p:cNvPr id="3" name="TextBox 2"/>
          <p:cNvSpPr txBox="1"/>
          <p:nvPr/>
        </p:nvSpPr>
        <p:spPr>
          <a:xfrm>
            <a:off x="1024128" y="347472"/>
            <a:ext cx="4389120" cy="256032"/>
          </a:xfrm>
          <a:prstGeom prst="rect">
            <a:avLst/>
          </a:prstGeom>
          <a:noFill/>
        </p:spPr>
        <p:txBody>
          <a:bodyPr wrap="square" lIns="36576" rIns="36576" tIns="36576" bIns="36576" anchor="t">
            <a:spAutoFit/>
          </a:bodyPr>
          <a:lstStyle/>
          <a:p>
            <a:pPr algn="l">
              <a:defRPr sz="1000" b="1">
                <a:solidFill>
                  <a:srgbClr val="5B6B77"/>
                </a:solidFill>
                <a:latin typeface="Aptos"/>
              </a:defRPr>
            </a:pPr>
            <a:r>
              <a:t>PILOT EVIDENCE</a:t>
            </a:r>
          </a:p>
        </p:txBody>
      </p:sp>
      <p:sp>
        <p:nvSpPr>
          <p:cNvPr id="4" name="TextBox 3"/>
          <p:cNvSpPr txBox="1"/>
          <p:nvPr/>
        </p:nvSpPr>
        <p:spPr>
          <a:xfrm>
            <a:off x="530352" y="713232"/>
            <a:ext cx="10972800" cy="658368"/>
          </a:xfrm>
          <a:prstGeom prst="rect">
            <a:avLst/>
          </a:prstGeom>
          <a:noFill/>
        </p:spPr>
        <p:txBody>
          <a:bodyPr wrap="square" lIns="36576" rIns="36576" tIns="36576" bIns="36576" anchor="t">
            <a:spAutoFit/>
          </a:bodyPr>
          <a:lstStyle/>
          <a:p>
            <a:pPr algn="l">
              <a:defRPr sz="2800" b="1">
                <a:solidFill>
                  <a:srgbClr val="122334"/>
                </a:solidFill>
                <a:latin typeface="Aptos Display"/>
              </a:defRPr>
            </a:pPr>
            <a:r>
              <a:t>What we delivered and proved</a:t>
            </a:r>
          </a:p>
        </p:txBody>
      </p:sp>
      <p:sp>
        <p:nvSpPr>
          <p:cNvPr id="5" name="Rectangle 4"/>
          <p:cNvSpPr/>
          <p:nvPr/>
        </p:nvSpPr>
        <p:spPr>
          <a:xfrm>
            <a:off x="566928" y="1344168"/>
            <a:ext cx="914400" cy="45720"/>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709928"/>
            <a:ext cx="566928" cy="329184"/>
          </a:xfrm>
          <a:prstGeom prst="rect">
            <a:avLst/>
          </a:prstGeom>
          <a:noFill/>
        </p:spPr>
        <p:txBody>
          <a:bodyPr wrap="square" lIns="36576" rIns="36576" tIns="36576" bIns="36576" anchor="t">
            <a:spAutoFit/>
          </a:bodyPr>
          <a:lstStyle/>
          <a:p>
            <a:pPr algn="l">
              <a:defRPr sz="1600" b="1">
                <a:solidFill>
                  <a:srgbClr val="00788C"/>
                </a:solidFill>
                <a:latin typeface="Aptos"/>
              </a:defRPr>
            </a:pPr>
            <a:r>
              <a:t>01</a:t>
            </a:r>
          </a:p>
        </p:txBody>
      </p:sp>
      <p:sp>
        <p:nvSpPr>
          <p:cNvPr id="7" name="TextBox 6"/>
          <p:cNvSpPr txBox="1"/>
          <p:nvPr/>
        </p:nvSpPr>
        <p:spPr>
          <a:xfrm>
            <a:off x="1353312" y="1627632"/>
            <a:ext cx="2240280" cy="256032"/>
          </a:xfrm>
          <a:prstGeom prst="rect">
            <a:avLst/>
          </a:prstGeom>
          <a:noFill/>
        </p:spPr>
        <p:txBody>
          <a:bodyPr wrap="square" lIns="36576" rIns="36576" tIns="36576" bIns="36576" anchor="t">
            <a:spAutoFit/>
          </a:bodyPr>
          <a:lstStyle/>
          <a:p>
            <a:pPr algn="l">
              <a:defRPr sz="1200" b="1">
                <a:solidFill>
                  <a:srgbClr val="122334"/>
                </a:solidFill>
                <a:latin typeface="Aptos"/>
              </a:defRPr>
            </a:pPr>
            <a:r>
              <a:t>PRIVATE PLATFORM</a:t>
            </a:r>
          </a:p>
        </p:txBody>
      </p:sp>
      <p:sp>
        <p:nvSpPr>
          <p:cNvPr id="8" name="TextBox 7"/>
          <p:cNvSpPr txBox="1"/>
          <p:nvPr/>
        </p:nvSpPr>
        <p:spPr>
          <a:xfrm>
            <a:off x="3355848" y="1572768"/>
            <a:ext cx="7086600" cy="594360"/>
          </a:xfrm>
          <a:prstGeom prst="rect">
            <a:avLst/>
          </a:prstGeom>
          <a:noFill/>
        </p:spPr>
        <p:txBody>
          <a:bodyPr wrap="square" lIns="36576" rIns="36576" tIns="36576" bIns="36576" anchor="t">
            <a:spAutoFit/>
          </a:bodyPr>
          <a:lstStyle/>
          <a:p>
            <a:pPr algn="l">
              <a:defRPr sz="1400" b="0">
                <a:solidFill>
                  <a:srgbClr val="5B6B77"/>
                </a:solidFill>
                <a:latin typeface="Aptos"/>
              </a:defRPr>
            </a:pPr>
            <a:r>
              <a:t>Internal APIM, private endpoints, managed identity, public/local auth disabled</a:t>
            </a:r>
          </a:p>
        </p:txBody>
      </p:sp>
      <p:sp>
        <p:nvSpPr>
          <p:cNvPr id="9" name="Rectangle 8"/>
          <p:cNvSpPr/>
          <p:nvPr/>
        </p:nvSpPr>
        <p:spPr>
          <a:xfrm>
            <a:off x="1353312" y="2377440"/>
            <a:ext cx="9646920" cy="10972"/>
          </a:xfrm>
          <a:prstGeom prst="rect">
            <a:avLst/>
          </a:prstGeom>
          <a:solidFill>
            <a:srgbClr val="C6CF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834640"/>
            <a:ext cx="566928" cy="329184"/>
          </a:xfrm>
          <a:prstGeom prst="rect">
            <a:avLst/>
          </a:prstGeom>
          <a:noFill/>
        </p:spPr>
        <p:txBody>
          <a:bodyPr wrap="square" lIns="36576" rIns="36576" tIns="36576" bIns="36576" anchor="t">
            <a:spAutoFit/>
          </a:bodyPr>
          <a:lstStyle/>
          <a:p>
            <a:pPr algn="l">
              <a:defRPr sz="1600" b="1">
                <a:solidFill>
                  <a:srgbClr val="00788C"/>
                </a:solidFill>
                <a:latin typeface="Aptos"/>
              </a:defRPr>
            </a:pPr>
            <a:r>
              <a:t>02</a:t>
            </a:r>
          </a:p>
        </p:txBody>
      </p:sp>
      <p:sp>
        <p:nvSpPr>
          <p:cNvPr id="11" name="TextBox 10"/>
          <p:cNvSpPr txBox="1"/>
          <p:nvPr/>
        </p:nvSpPr>
        <p:spPr>
          <a:xfrm>
            <a:off x="1353312" y="2752344"/>
            <a:ext cx="2240280" cy="256032"/>
          </a:xfrm>
          <a:prstGeom prst="rect">
            <a:avLst/>
          </a:prstGeom>
          <a:noFill/>
        </p:spPr>
        <p:txBody>
          <a:bodyPr wrap="square" lIns="36576" rIns="36576" tIns="36576" bIns="36576" anchor="t">
            <a:spAutoFit/>
          </a:bodyPr>
          <a:lstStyle/>
          <a:p>
            <a:pPr algn="l">
              <a:defRPr sz="1200" b="1">
                <a:solidFill>
                  <a:srgbClr val="122334"/>
                </a:solidFill>
                <a:latin typeface="Aptos"/>
              </a:defRPr>
            </a:pPr>
            <a:r>
              <a:t>CLIENT COVERAGE</a:t>
            </a:r>
          </a:p>
        </p:txBody>
      </p:sp>
      <p:sp>
        <p:nvSpPr>
          <p:cNvPr id="12" name="TextBox 11"/>
          <p:cNvSpPr txBox="1"/>
          <p:nvPr/>
        </p:nvSpPr>
        <p:spPr>
          <a:xfrm>
            <a:off x="3355848" y="2697480"/>
            <a:ext cx="7086600" cy="594360"/>
          </a:xfrm>
          <a:prstGeom prst="rect">
            <a:avLst/>
          </a:prstGeom>
          <a:noFill/>
        </p:spPr>
        <p:txBody>
          <a:bodyPr wrap="square" lIns="36576" rIns="36576" tIns="36576" bIns="36576" anchor="t">
            <a:spAutoFit/>
          </a:bodyPr>
          <a:lstStyle/>
          <a:p>
            <a:pPr algn="l">
              <a:defRPr sz="1400" b="0">
                <a:solidFill>
                  <a:srgbClr val="5B6B77"/>
                </a:solidFill>
                <a:latin typeface="Aptos"/>
              </a:defRPr>
            </a:pPr>
            <a:r>
              <a:t>Copilot CLI + VS Code; Chat Completions, Responses, streaming, model discovery</a:t>
            </a:r>
          </a:p>
        </p:txBody>
      </p:sp>
      <p:sp>
        <p:nvSpPr>
          <p:cNvPr id="13" name="Rectangle 12"/>
          <p:cNvSpPr/>
          <p:nvPr/>
        </p:nvSpPr>
        <p:spPr>
          <a:xfrm>
            <a:off x="1353312" y="3502152"/>
            <a:ext cx="9646920" cy="10972"/>
          </a:xfrm>
          <a:prstGeom prst="rect">
            <a:avLst/>
          </a:prstGeom>
          <a:solidFill>
            <a:srgbClr val="C6CF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959352"/>
            <a:ext cx="566928" cy="329184"/>
          </a:xfrm>
          <a:prstGeom prst="rect">
            <a:avLst/>
          </a:prstGeom>
          <a:noFill/>
        </p:spPr>
        <p:txBody>
          <a:bodyPr wrap="square" lIns="36576" rIns="36576" tIns="36576" bIns="36576" anchor="t">
            <a:spAutoFit/>
          </a:bodyPr>
          <a:lstStyle/>
          <a:p>
            <a:pPr algn="l">
              <a:defRPr sz="1600" b="1">
                <a:solidFill>
                  <a:srgbClr val="00788C"/>
                </a:solidFill>
                <a:latin typeface="Aptos"/>
              </a:defRPr>
            </a:pPr>
            <a:r>
              <a:t>03</a:t>
            </a:r>
          </a:p>
        </p:txBody>
      </p:sp>
      <p:sp>
        <p:nvSpPr>
          <p:cNvPr id="15" name="TextBox 14"/>
          <p:cNvSpPr txBox="1"/>
          <p:nvPr/>
        </p:nvSpPr>
        <p:spPr>
          <a:xfrm>
            <a:off x="1353312" y="3877055"/>
            <a:ext cx="2240280" cy="256032"/>
          </a:xfrm>
          <a:prstGeom prst="rect">
            <a:avLst/>
          </a:prstGeom>
          <a:noFill/>
        </p:spPr>
        <p:txBody>
          <a:bodyPr wrap="square" lIns="36576" rIns="36576" tIns="36576" bIns="36576" anchor="t">
            <a:spAutoFit/>
          </a:bodyPr>
          <a:lstStyle/>
          <a:p>
            <a:pPr algn="l">
              <a:defRPr sz="1200" b="1">
                <a:solidFill>
                  <a:srgbClr val="122334"/>
                </a:solidFill>
                <a:latin typeface="Aptos"/>
              </a:defRPr>
            </a:pPr>
            <a:r>
              <a:t>GOVERNANCE</a:t>
            </a:r>
          </a:p>
        </p:txBody>
      </p:sp>
      <p:sp>
        <p:nvSpPr>
          <p:cNvPr id="16" name="TextBox 15"/>
          <p:cNvSpPr txBox="1"/>
          <p:nvPr/>
        </p:nvSpPr>
        <p:spPr>
          <a:xfrm>
            <a:off x="3355848" y="3822191"/>
            <a:ext cx="7086600" cy="594360"/>
          </a:xfrm>
          <a:prstGeom prst="rect">
            <a:avLst/>
          </a:prstGeom>
          <a:noFill/>
        </p:spPr>
        <p:txBody>
          <a:bodyPr wrap="square" lIns="36576" rIns="36576" tIns="36576" bIns="36576" anchor="t">
            <a:spAutoFit/>
          </a:bodyPr>
          <a:lstStyle/>
          <a:p>
            <a:pPr algn="l">
              <a:defRPr sz="1400" b="0">
                <a:solidFill>
                  <a:srgbClr val="5B6B77"/>
                </a:solidFill>
                <a:latin typeface="Aptos"/>
              </a:defRPr>
            </a:pPr>
            <a:r>
              <a:t>Per-developer tiers, limits, routing, throttles, and attributable telemetry</a:t>
            </a:r>
          </a:p>
        </p:txBody>
      </p:sp>
      <p:sp>
        <p:nvSpPr>
          <p:cNvPr id="17" name="Rectangle 16"/>
          <p:cNvSpPr/>
          <p:nvPr/>
        </p:nvSpPr>
        <p:spPr>
          <a:xfrm>
            <a:off x="1353312" y="4626864"/>
            <a:ext cx="9646920" cy="10972"/>
          </a:xfrm>
          <a:prstGeom prst="rect">
            <a:avLst/>
          </a:prstGeom>
          <a:solidFill>
            <a:srgbClr val="C6CF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5084064"/>
            <a:ext cx="566928" cy="329184"/>
          </a:xfrm>
          <a:prstGeom prst="rect">
            <a:avLst/>
          </a:prstGeom>
          <a:noFill/>
        </p:spPr>
        <p:txBody>
          <a:bodyPr wrap="square" lIns="36576" rIns="36576" tIns="36576" bIns="36576" anchor="t">
            <a:spAutoFit/>
          </a:bodyPr>
          <a:lstStyle/>
          <a:p>
            <a:pPr algn="l">
              <a:defRPr sz="1600" b="1">
                <a:solidFill>
                  <a:srgbClr val="00788C"/>
                </a:solidFill>
                <a:latin typeface="Aptos"/>
              </a:defRPr>
            </a:pPr>
            <a:r>
              <a:t>04</a:t>
            </a:r>
          </a:p>
        </p:txBody>
      </p:sp>
      <p:sp>
        <p:nvSpPr>
          <p:cNvPr id="19" name="TextBox 18"/>
          <p:cNvSpPr txBox="1"/>
          <p:nvPr/>
        </p:nvSpPr>
        <p:spPr>
          <a:xfrm>
            <a:off x="1353312" y="5001768"/>
            <a:ext cx="2240280" cy="256032"/>
          </a:xfrm>
          <a:prstGeom prst="rect">
            <a:avLst/>
          </a:prstGeom>
          <a:noFill/>
        </p:spPr>
        <p:txBody>
          <a:bodyPr wrap="square" lIns="36576" rIns="36576" tIns="36576" bIns="36576" anchor="t">
            <a:spAutoFit/>
          </a:bodyPr>
          <a:lstStyle/>
          <a:p>
            <a:pPr algn="l">
              <a:defRPr sz="1200" b="1">
                <a:solidFill>
                  <a:srgbClr val="122334"/>
                </a:solidFill>
                <a:latin typeface="Aptos"/>
              </a:defRPr>
            </a:pPr>
            <a:r>
              <a:t>OPERATIONS</a:t>
            </a:r>
          </a:p>
        </p:txBody>
      </p:sp>
      <p:sp>
        <p:nvSpPr>
          <p:cNvPr id="20" name="TextBox 19"/>
          <p:cNvSpPr txBox="1"/>
          <p:nvPr/>
        </p:nvSpPr>
        <p:spPr>
          <a:xfrm>
            <a:off x="3355848" y="4946904"/>
            <a:ext cx="7086600" cy="594360"/>
          </a:xfrm>
          <a:prstGeom prst="rect">
            <a:avLst/>
          </a:prstGeom>
          <a:noFill/>
        </p:spPr>
        <p:txBody>
          <a:bodyPr wrap="square" lIns="36576" rIns="36576" tIns="36576" bIns="36576" anchor="t">
            <a:spAutoFit/>
          </a:bodyPr>
          <a:lstStyle/>
          <a:p>
            <a:pPr algn="l">
              <a:defRPr sz="1400" b="0">
                <a:solidFill>
                  <a:srgbClr val="5B6B77"/>
                </a:solidFill>
                <a:latin typeface="Aptos"/>
              </a:defRPr>
            </a:pPr>
            <a:r>
              <a:t>Private onboarding, VNet CI runners, dual-cloud smoke tests, documented runbooks</a:t>
            </a:r>
          </a:p>
        </p:txBody>
      </p:sp>
      <p:sp>
        <p:nvSpPr>
          <p:cNvPr id="21" name="Hexagon 20"/>
          <p:cNvSpPr/>
          <p:nvPr/>
        </p:nvSpPr>
        <p:spPr>
          <a:xfrm>
            <a:off x="10497312" y="2148840"/>
            <a:ext cx="1115568" cy="1024128"/>
          </a:xfrm>
          <a:prstGeom prst="hexagon">
            <a:avLst/>
          </a:prstGeom>
          <a:solidFill>
            <a:srgbClr val="2A8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97312" y="2377440"/>
            <a:ext cx="1115568" cy="320040"/>
          </a:xfrm>
          <a:prstGeom prst="rect">
            <a:avLst/>
          </a:prstGeom>
          <a:noFill/>
        </p:spPr>
        <p:txBody>
          <a:bodyPr wrap="square" lIns="36576" rIns="36576" tIns="36576" bIns="36576" anchor="t">
            <a:spAutoFit/>
          </a:bodyPr>
          <a:lstStyle/>
          <a:p>
            <a:pPr algn="ctr">
              <a:defRPr sz="2000" b="1">
                <a:solidFill>
                  <a:srgbClr val="FFFFFF"/>
                </a:solidFill>
                <a:latin typeface="Aptos"/>
              </a:defRPr>
            </a:pPr>
            <a:r>
              <a:t>2.2</a:t>
            </a:r>
          </a:p>
        </p:txBody>
      </p:sp>
      <p:sp>
        <p:nvSpPr>
          <p:cNvPr id="23" name="TextBox 22"/>
          <p:cNvSpPr txBox="1"/>
          <p:nvPr/>
        </p:nvSpPr>
        <p:spPr>
          <a:xfrm>
            <a:off x="10497312" y="2770632"/>
            <a:ext cx="1115568" cy="182880"/>
          </a:xfrm>
          <a:prstGeom prst="rect">
            <a:avLst/>
          </a:prstGeom>
          <a:noFill/>
        </p:spPr>
        <p:txBody>
          <a:bodyPr wrap="square" lIns="36576" rIns="36576" tIns="36576" bIns="36576" anchor="t">
            <a:spAutoFit/>
          </a:bodyPr>
          <a:lstStyle/>
          <a:p>
            <a:pPr algn="ctr">
              <a:defRPr sz="800" b="1">
                <a:solidFill>
                  <a:srgbClr val="FFFFFF"/>
                </a:solidFill>
                <a:latin typeface="Aptos"/>
              </a:defRPr>
            </a:pPr>
            <a:r>
              <a:t>RELEASE</a:t>
            </a:r>
          </a:p>
        </p:txBody>
      </p:sp>
      <p:sp>
        <p:nvSpPr>
          <p:cNvPr id="24" name="Rounded Rectangle 23"/>
          <p:cNvSpPr/>
          <p:nvPr/>
        </p:nvSpPr>
        <p:spPr>
          <a:xfrm>
            <a:off x="3172968" y="6099048"/>
            <a:ext cx="5897880" cy="329184"/>
          </a:xfrm>
          <a:prstGeom prst="roundRect">
            <a:avLst/>
          </a:prstGeom>
          <a:solidFill>
            <a:srgbClr val="DE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72968" y="6117336"/>
            <a:ext cx="5897880" cy="237744"/>
          </a:xfrm>
          <a:prstGeom prst="rect">
            <a:avLst/>
          </a:prstGeom>
          <a:noFill/>
        </p:spPr>
        <p:txBody>
          <a:bodyPr wrap="square" lIns="36576" rIns="36576" tIns="36576" bIns="36576" anchor="t">
            <a:spAutoFit/>
          </a:bodyPr>
          <a:lstStyle/>
          <a:p>
            <a:pPr algn="ctr">
              <a:defRPr sz="1000" b="1">
                <a:solidFill>
                  <a:srgbClr val="2A8466"/>
                </a:solidFill>
                <a:latin typeface="Aptos"/>
              </a:defRPr>
            </a:pPr>
            <a:r>
              <a:t>LIVE-VALIDATED ON COMMERCIAL + GOVERNMENT PILOTS</a:t>
            </a:r>
          </a:p>
        </p:txBody>
      </p:sp>
      <p:sp>
        <p:nvSpPr>
          <p:cNvPr id="26" name="TextBox 25"/>
          <p:cNvSpPr txBox="1"/>
          <p:nvPr/>
        </p:nvSpPr>
        <p:spPr>
          <a:xfrm>
            <a:off x="566928" y="6565392"/>
            <a:ext cx="5669280" cy="164592"/>
          </a:xfrm>
          <a:prstGeom prst="rect">
            <a:avLst/>
          </a:prstGeom>
          <a:noFill/>
        </p:spPr>
        <p:txBody>
          <a:bodyPr wrap="square" lIns="36576" rIns="36576" tIns="36576" bIns="36576" anchor="t">
            <a:spAutoFit/>
          </a:bodyPr>
          <a:lstStyle/>
          <a:p>
            <a:pPr algn="l">
              <a:defRPr sz="800" b="1">
                <a:solidFill>
                  <a:srgbClr val="5B6B77"/>
                </a:solidFill>
                <a:latin typeface="Aptos"/>
              </a:defRPr>
            </a:pPr>
            <a:r>
              <a:t>PRIVATE COPILOT | CUSTOMER-CONTROLLED AI</a:t>
            </a:r>
          </a:p>
        </p:txBody>
      </p:sp>
      <p:sp>
        <p:nvSpPr>
          <p:cNvPr id="27" name="TextBox 26"/>
          <p:cNvSpPr txBox="1"/>
          <p:nvPr/>
        </p:nvSpPr>
        <p:spPr>
          <a:xfrm>
            <a:off x="9217152" y="6565392"/>
            <a:ext cx="2395728" cy="164592"/>
          </a:xfrm>
          <a:prstGeom prst="rect">
            <a:avLst/>
          </a:prstGeom>
          <a:noFill/>
        </p:spPr>
        <p:txBody>
          <a:bodyPr wrap="square" lIns="36576" rIns="36576" tIns="36576" bIns="36576" anchor="t">
            <a:spAutoFit/>
          </a:bodyPr>
          <a:lstStyle/>
          <a:p>
            <a:pPr algn="r">
              <a:defRPr sz="800" b="1">
                <a:solidFill>
                  <a:srgbClr val="5B6B77"/>
                </a:solidFill>
                <a:latin typeface="Aptos"/>
              </a:defRPr>
            </a:pPr>
            <a:r>
              <a:t>AZURE GOVERNMENT + COMMERCIAL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TextBox 1"/>
          <p:cNvSpPr txBox="1"/>
          <p:nvPr/>
        </p:nvSpPr>
        <p:spPr>
          <a:xfrm>
            <a:off x="530352" y="347472"/>
            <a:ext cx="502920" cy="310896"/>
          </a:xfrm>
          <a:prstGeom prst="rect">
            <a:avLst/>
          </a:prstGeom>
          <a:noFill/>
        </p:spPr>
        <p:txBody>
          <a:bodyPr wrap="square" lIns="36576" rIns="36576" tIns="36576" bIns="36576" anchor="t">
            <a:spAutoFit/>
          </a:bodyPr>
          <a:lstStyle/>
          <a:p>
            <a:pPr algn="l">
              <a:defRPr sz="1300" b="1">
                <a:solidFill>
                  <a:srgbClr val="00788C"/>
                </a:solidFill>
                <a:latin typeface="Aptos"/>
              </a:defRPr>
            </a:pPr>
            <a:r>
              <a:t>06</a:t>
            </a:r>
          </a:p>
        </p:txBody>
      </p:sp>
      <p:sp>
        <p:nvSpPr>
          <p:cNvPr id="3" name="TextBox 2"/>
          <p:cNvSpPr txBox="1"/>
          <p:nvPr/>
        </p:nvSpPr>
        <p:spPr>
          <a:xfrm>
            <a:off x="1024128" y="347472"/>
            <a:ext cx="4389120" cy="256032"/>
          </a:xfrm>
          <a:prstGeom prst="rect">
            <a:avLst/>
          </a:prstGeom>
          <a:noFill/>
        </p:spPr>
        <p:txBody>
          <a:bodyPr wrap="square" lIns="36576" rIns="36576" tIns="36576" bIns="36576" anchor="t">
            <a:spAutoFit/>
          </a:bodyPr>
          <a:lstStyle/>
          <a:p>
            <a:pPr algn="l">
              <a:defRPr sz="1000" b="1">
                <a:solidFill>
                  <a:srgbClr val="5B6B77"/>
                </a:solidFill>
                <a:latin typeface="Aptos"/>
              </a:defRPr>
            </a:pPr>
            <a:r>
              <a:t>LESSONS DE-RISKED</a:t>
            </a:r>
          </a:p>
        </p:txBody>
      </p:sp>
      <p:sp>
        <p:nvSpPr>
          <p:cNvPr id="4" name="TextBox 3"/>
          <p:cNvSpPr txBox="1"/>
          <p:nvPr/>
        </p:nvSpPr>
        <p:spPr>
          <a:xfrm>
            <a:off x="530352" y="713232"/>
            <a:ext cx="10972800" cy="658368"/>
          </a:xfrm>
          <a:prstGeom prst="rect">
            <a:avLst/>
          </a:prstGeom>
          <a:noFill/>
        </p:spPr>
        <p:txBody>
          <a:bodyPr wrap="square" lIns="36576" rIns="36576" tIns="36576" bIns="36576" anchor="t">
            <a:spAutoFit/>
          </a:bodyPr>
          <a:lstStyle/>
          <a:p>
            <a:pPr algn="l">
              <a:defRPr sz="2800" b="1">
                <a:solidFill>
                  <a:srgbClr val="122334"/>
                </a:solidFill>
                <a:latin typeface="Aptos Display"/>
              </a:defRPr>
            </a:pPr>
            <a:r>
              <a:t>The difficult parts are now reusable IP</a:t>
            </a:r>
          </a:p>
        </p:txBody>
      </p:sp>
      <p:sp>
        <p:nvSpPr>
          <p:cNvPr id="5" name="Rectangle 4"/>
          <p:cNvSpPr/>
          <p:nvPr/>
        </p:nvSpPr>
        <p:spPr>
          <a:xfrm>
            <a:off x="566928" y="1344168"/>
            <a:ext cx="914400" cy="45720"/>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00200"/>
            <a:ext cx="5230368" cy="1133856"/>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600200"/>
            <a:ext cx="73152" cy="1133856"/>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783080"/>
            <a:ext cx="4846320" cy="329184"/>
          </a:xfrm>
          <a:prstGeom prst="rect">
            <a:avLst/>
          </a:prstGeom>
          <a:noFill/>
        </p:spPr>
        <p:txBody>
          <a:bodyPr wrap="square" lIns="36576" rIns="36576" tIns="36576" bIns="36576" anchor="t">
            <a:spAutoFit/>
          </a:bodyPr>
          <a:lstStyle/>
          <a:p>
            <a:pPr algn="l">
              <a:defRPr sz="1300" b="1">
                <a:solidFill>
                  <a:srgbClr val="122334"/>
                </a:solidFill>
                <a:latin typeface="Aptos"/>
              </a:defRPr>
            </a:pPr>
            <a:r>
              <a:t>FLEET AUTH</a:t>
            </a:r>
          </a:p>
        </p:txBody>
      </p:sp>
      <p:sp>
        <p:nvSpPr>
          <p:cNvPr id="9" name="TextBox 8"/>
          <p:cNvSpPr txBox="1"/>
          <p:nvPr/>
        </p:nvSpPr>
        <p:spPr>
          <a:xfrm>
            <a:off x="786384" y="2231136"/>
            <a:ext cx="4846320" cy="347472"/>
          </a:xfrm>
          <a:prstGeom prst="rect">
            <a:avLst/>
          </a:prstGeom>
          <a:noFill/>
        </p:spPr>
        <p:txBody>
          <a:bodyPr wrap="square" lIns="36576" rIns="36576" tIns="36576" bIns="36576" anchor="t">
            <a:spAutoFit/>
          </a:bodyPr>
          <a:lstStyle/>
          <a:p>
            <a:pPr algn="l">
              <a:defRPr sz="1100" b="0">
                <a:solidFill>
                  <a:srgbClr val="5B6B77"/>
                </a:solidFill>
                <a:latin typeface="Aptos"/>
              </a:defRPr>
            </a:pPr>
            <a:r>
              <a:t>Long-lived APIM subscription keys avoid hourly client refresh failures; JWT remains an option.</a:t>
            </a:r>
          </a:p>
        </p:txBody>
      </p:sp>
      <p:sp>
        <p:nvSpPr>
          <p:cNvPr id="10" name="Rounded Rectangle 9"/>
          <p:cNvSpPr/>
          <p:nvPr/>
        </p:nvSpPr>
        <p:spPr>
          <a:xfrm>
            <a:off x="6208776" y="1600200"/>
            <a:ext cx="5230368" cy="1133856"/>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600200"/>
            <a:ext cx="73152" cy="1133856"/>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783080"/>
            <a:ext cx="4846320" cy="329184"/>
          </a:xfrm>
          <a:prstGeom prst="rect">
            <a:avLst/>
          </a:prstGeom>
          <a:noFill/>
        </p:spPr>
        <p:txBody>
          <a:bodyPr wrap="square" lIns="36576" rIns="36576" tIns="36576" bIns="36576" anchor="t">
            <a:spAutoFit/>
          </a:bodyPr>
          <a:lstStyle/>
          <a:p>
            <a:pPr algn="l">
              <a:defRPr sz="1300" b="1">
                <a:solidFill>
                  <a:srgbClr val="122334"/>
                </a:solidFill>
                <a:latin typeface="Aptos"/>
              </a:defRPr>
            </a:pPr>
            <a:r>
              <a:t>PROTOCOL</a:t>
            </a:r>
          </a:p>
        </p:txBody>
      </p:sp>
      <p:sp>
        <p:nvSpPr>
          <p:cNvPr id="13" name="TextBox 12"/>
          <p:cNvSpPr txBox="1"/>
          <p:nvPr/>
        </p:nvSpPr>
        <p:spPr>
          <a:xfrm>
            <a:off x="6428232" y="2231136"/>
            <a:ext cx="4846320" cy="347472"/>
          </a:xfrm>
          <a:prstGeom prst="rect">
            <a:avLst/>
          </a:prstGeom>
          <a:noFill/>
        </p:spPr>
        <p:txBody>
          <a:bodyPr wrap="square" lIns="36576" rIns="36576" tIns="36576" bIns="36576" anchor="t">
            <a:spAutoFit/>
          </a:bodyPr>
          <a:lstStyle/>
          <a:p>
            <a:pPr algn="l">
              <a:defRPr sz="1100" b="0">
                <a:solidFill>
                  <a:srgbClr val="5B6B77"/>
                </a:solidFill>
                <a:latin typeface="Aptos"/>
              </a:defRPr>
            </a:pPr>
            <a:r>
              <a:t>Policies handle streaming usage, reasoning parameters, Responses paths, and client metadata.</a:t>
            </a:r>
          </a:p>
        </p:txBody>
      </p:sp>
      <p:sp>
        <p:nvSpPr>
          <p:cNvPr id="14" name="Rounded Rectangle 13"/>
          <p:cNvSpPr/>
          <p:nvPr/>
        </p:nvSpPr>
        <p:spPr>
          <a:xfrm>
            <a:off x="566928" y="3017520"/>
            <a:ext cx="5230368" cy="1133856"/>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017520"/>
            <a:ext cx="73152" cy="1133856"/>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200400"/>
            <a:ext cx="4846320" cy="329184"/>
          </a:xfrm>
          <a:prstGeom prst="rect">
            <a:avLst/>
          </a:prstGeom>
          <a:noFill/>
        </p:spPr>
        <p:txBody>
          <a:bodyPr wrap="square" lIns="36576" rIns="36576" tIns="36576" bIns="36576" anchor="t">
            <a:spAutoFit/>
          </a:bodyPr>
          <a:lstStyle/>
          <a:p>
            <a:pPr algn="l">
              <a:defRPr sz="1300" b="1">
                <a:solidFill>
                  <a:srgbClr val="122334"/>
                </a:solidFill>
                <a:latin typeface="Aptos"/>
              </a:defRPr>
            </a:pPr>
            <a:r>
              <a:t>SAFETY</a:t>
            </a:r>
          </a:p>
        </p:txBody>
      </p:sp>
      <p:sp>
        <p:nvSpPr>
          <p:cNvPr id="17" name="TextBox 16"/>
          <p:cNvSpPr txBox="1"/>
          <p:nvPr/>
        </p:nvSpPr>
        <p:spPr>
          <a:xfrm>
            <a:off x="786384" y="3648456"/>
            <a:ext cx="4846320" cy="347472"/>
          </a:xfrm>
          <a:prstGeom prst="rect">
            <a:avLst/>
          </a:prstGeom>
          <a:noFill/>
        </p:spPr>
        <p:txBody>
          <a:bodyPr wrap="square" lIns="36576" rIns="36576" tIns="36576" bIns="36576" anchor="t">
            <a:spAutoFit/>
          </a:bodyPr>
          <a:lstStyle/>
          <a:p>
            <a:pPr algn="l">
              <a:defRPr sz="1100" b="0">
                <a:solidFill>
                  <a:srgbClr val="5B6B77"/>
                </a:solidFill>
                <a:latin typeface="Aptos"/>
              </a:defRPr>
            </a:pPr>
            <a:r>
              <a:t>A coding-specific content policy reduces false jailbreak blocks without discarding controls.</a:t>
            </a:r>
          </a:p>
        </p:txBody>
      </p:sp>
      <p:sp>
        <p:nvSpPr>
          <p:cNvPr id="18" name="Rounded Rectangle 17"/>
          <p:cNvSpPr/>
          <p:nvPr/>
        </p:nvSpPr>
        <p:spPr>
          <a:xfrm>
            <a:off x="6208776" y="3017520"/>
            <a:ext cx="5230368" cy="1133856"/>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017520"/>
            <a:ext cx="73152" cy="1133856"/>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3200400"/>
            <a:ext cx="4846320" cy="329184"/>
          </a:xfrm>
          <a:prstGeom prst="rect">
            <a:avLst/>
          </a:prstGeom>
          <a:noFill/>
        </p:spPr>
        <p:txBody>
          <a:bodyPr wrap="square" lIns="36576" rIns="36576" tIns="36576" bIns="36576" anchor="t">
            <a:spAutoFit/>
          </a:bodyPr>
          <a:lstStyle/>
          <a:p>
            <a:pPr algn="l">
              <a:defRPr sz="1300" b="1">
                <a:solidFill>
                  <a:srgbClr val="122334"/>
                </a:solidFill>
                <a:latin typeface="Aptos"/>
              </a:defRPr>
            </a:pPr>
            <a:r>
              <a:t>GOV TELEMETRY</a:t>
            </a:r>
          </a:p>
        </p:txBody>
      </p:sp>
      <p:sp>
        <p:nvSpPr>
          <p:cNvPr id="21" name="TextBox 20"/>
          <p:cNvSpPr txBox="1"/>
          <p:nvPr/>
        </p:nvSpPr>
        <p:spPr>
          <a:xfrm>
            <a:off x="6428232" y="3648456"/>
            <a:ext cx="4846320" cy="347472"/>
          </a:xfrm>
          <a:prstGeom prst="rect">
            <a:avLst/>
          </a:prstGeom>
          <a:noFill/>
        </p:spPr>
        <p:txBody>
          <a:bodyPr wrap="square" lIns="36576" rIns="36576" tIns="36576" bIns="36576" anchor="t">
            <a:spAutoFit/>
          </a:bodyPr>
          <a:lstStyle/>
          <a:p>
            <a:pPr algn="l">
              <a:defRPr sz="1100" b="0">
                <a:solidFill>
                  <a:srgbClr val="5B6B77"/>
                </a:solidFill>
                <a:latin typeface="Aptos"/>
              </a:defRPr>
            </a:pPr>
            <a:r>
              <a:t>Workspace tables and in-VNet assertions account for sovereign query-plane differences.</a:t>
            </a:r>
          </a:p>
        </p:txBody>
      </p:sp>
      <p:sp>
        <p:nvSpPr>
          <p:cNvPr id="22" name="Rounded Rectangle 21"/>
          <p:cNvSpPr/>
          <p:nvPr/>
        </p:nvSpPr>
        <p:spPr>
          <a:xfrm>
            <a:off x="566928" y="4434840"/>
            <a:ext cx="5230368" cy="1133856"/>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4434840"/>
            <a:ext cx="73152" cy="1133856"/>
          </a:xfrm>
          <a:prstGeom prst="rect">
            <a:avLst/>
          </a:prstGeom>
          <a:solidFill>
            <a:srgbClr val="007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4617720"/>
            <a:ext cx="4846320" cy="329184"/>
          </a:xfrm>
          <a:prstGeom prst="rect">
            <a:avLst/>
          </a:prstGeom>
          <a:noFill/>
        </p:spPr>
        <p:txBody>
          <a:bodyPr wrap="square" lIns="36576" rIns="36576" tIns="36576" bIns="36576" anchor="t">
            <a:spAutoFit/>
          </a:bodyPr>
          <a:lstStyle/>
          <a:p>
            <a:pPr algn="l">
              <a:defRPr sz="1300" b="1">
                <a:solidFill>
                  <a:srgbClr val="122334"/>
                </a:solidFill>
                <a:latin typeface="Aptos"/>
              </a:defRPr>
            </a:pPr>
            <a:r>
              <a:t>PRIVATE CI</a:t>
            </a:r>
          </a:p>
        </p:txBody>
      </p:sp>
      <p:sp>
        <p:nvSpPr>
          <p:cNvPr id="25" name="TextBox 24"/>
          <p:cNvSpPr txBox="1"/>
          <p:nvPr/>
        </p:nvSpPr>
        <p:spPr>
          <a:xfrm>
            <a:off x="786384" y="5065775"/>
            <a:ext cx="4846320" cy="347472"/>
          </a:xfrm>
          <a:prstGeom prst="rect">
            <a:avLst/>
          </a:prstGeom>
          <a:noFill/>
        </p:spPr>
        <p:txBody>
          <a:bodyPr wrap="square" lIns="36576" rIns="36576" tIns="36576" bIns="36576" anchor="t">
            <a:spAutoFit/>
          </a:bodyPr>
          <a:lstStyle/>
          <a:p>
            <a:pPr algn="l">
              <a:defRPr sz="1100" b="0">
                <a:solidFill>
                  <a:srgbClr val="5B6B77"/>
                </a:solidFill>
                <a:latin typeface="Aptos"/>
              </a:defRPr>
            </a:pPr>
            <a:r>
              <a:t>Runner bootstrap, Key Vault rotation, ordering, and smoke validation are automated.</a:t>
            </a:r>
          </a:p>
        </p:txBody>
      </p:sp>
      <p:sp>
        <p:nvSpPr>
          <p:cNvPr id="26" name="Rounded Rectangle 25"/>
          <p:cNvSpPr/>
          <p:nvPr/>
        </p:nvSpPr>
        <p:spPr>
          <a:xfrm>
            <a:off x="6208776" y="4434840"/>
            <a:ext cx="5230368" cy="1133856"/>
          </a:xfrm>
          <a:prstGeom prst="roundRect">
            <a:avLst/>
          </a:prstGeom>
          <a:solidFill>
            <a:srgbClr val="FFFFFF"/>
          </a:solidFill>
          <a:ln w="10160">
            <a:solidFill>
              <a:srgbClr val="C6C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08776" y="4434840"/>
            <a:ext cx="73152" cy="1133856"/>
          </a:xfrm>
          <a:prstGeom prst="rect">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4617720"/>
            <a:ext cx="4846320" cy="329184"/>
          </a:xfrm>
          <a:prstGeom prst="rect">
            <a:avLst/>
          </a:prstGeom>
          <a:noFill/>
        </p:spPr>
        <p:txBody>
          <a:bodyPr wrap="square" lIns="36576" rIns="36576" tIns="36576" bIns="36576" anchor="t">
            <a:spAutoFit/>
          </a:bodyPr>
          <a:lstStyle/>
          <a:p>
            <a:pPr algn="l">
              <a:defRPr sz="1300" b="1">
                <a:solidFill>
                  <a:srgbClr val="122334"/>
                </a:solidFill>
                <a:latin typeface="Aptos"/>
              </a:defRPr>
            </a:pPr>
            <a:r>
              <a:t>DAY-2 OPS</a:t>
            </a:r>
          </a:p>
        </p:txBody>
      </p:sp>
      <p:sp>
        <p:nvSpPr>
          <p:cNvPr id="29" name="TextBox 28"/>
          <p:cNvSpPr txBox="1"/>
          <p:nvPr/>
        </p:nvSpPr>
        <p:spPr>
          <a:xfrm>
            <a:off x="6428232" y="5065775"/>
            <a:ext cx="4846320" cy="347472"/>
          </a:xfrm>
          <a:prstGeom prst="rect">
            <a:avLst/>
          </a:prstGeom>
          <a:noFill/>
        </p:spPr>
        <p:txBody>
          <a:bodyPr wrap="square" lIns="36576" rIns="36576" tIns="36576" bIns="36576" anchor="t">
            <a:spAutoFit/>
          </a:bodyPr>
          <a:lstStyle/>
          <a:p>
            <a:pPr algn="l">
              <a:defRPr sz="1100" b="0">
                <a:solidFill>
                  <a:srgbClr val="5B6B77"/>
                </a:solidFill>
                <a:latin typeface="Aptos"/>
              </a:defRPr>
            </a:pPr>
            <a:r>
              <a:t>Failure signatures and recovery steps are captured in a symptom-driven runbook.</a:t>
            </a:r>
          </a:p>
        </p:txBody>
      </p:sp>
      <p:sp>
        <p:nvSpPr>
          <p:cNvPr id="30" name="Rounded Rectangle 29"/>
          <p:cNvSpPr/>
          <p:nvPr/>
        </p:nvSpPr>
        <p:spPr>
          <a:xfrm>
            <a:off x="1938528" y="5843016"/>
            <a:ext cx="8321040" cy="484632"/>
          </a:xfrm>
          <a:prstGeom prst="roundRect">
            <a:avLst/>
          </a:prstGeom>
          <a:solidFill>
            <a:srgbClr val="12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38528" y="5971032"/>
            <a:ext cx="8321040" cy="201168"/>
          </a:xfrm>
          <a:prstGeom prst="rect">
            <a:avLst/>
          </a:prstGeom>
          <a:noFill/>
        </p:spPr>
        <p:txBody>
          <a:bodyPr wrap="square" lIns="36576" rIns="36576" tIns="36576" bIns="36576" anchor="t">
            <a:spAutoFit/>
          </a:bodyPr>
          <a:lstStyle/>
          <a:p>
            <a:pPr algn="ctr">
              <a:defRPr sz="1300" b="1">
                <a:solidFill>
                  <a:srgbClr val="FFFFFF"/>
                </a:solidFill>
                <a:latin typeface="Aptos"/>
              </a:defRPr>
            </a:pPr>
            <a:r>
              <a:t>Configure and deploy. Do not rediscover the platform constraints per engagement.</a:t>
            </a:r>
          </a:p>
        </p:txBody>
      </p:sp>
      <p:sp>
        <p:nvSpPr>
          <p:cNvPr id="32" name="TextBox 31"/>
          <p:cNvSpPr txBox="1"/>
          <p:nvPr/>
        </p:nvSpPr>
        <p:spPr>
          <a:xfrm>
            <a:off x="566928" y="6565392"/>
            <a:ext cx="5669280" cy="164592"/>
          </a:xfrm>
          <a:prstGeom prst="rect">
            <a:avLst/>
          </a:prstGeom>
          <a:noFill/>
        </p:spPr>
        <p:txBody>
          <a:bodyPr wrap="square" lIns="36576" rIns="36576" tIns="36576" bIns="36576" anchor="t">
            <a:spAutoFit/>
          </a:bodyPr>
          <a:lstStyle/>
          <a:p>
            <a:pPr algn="l">
              <a:defRPr sz="800" b="1">
                <a:solidFill>
                  <a:srgbClr val="5B6B77"/>
                </a:solidFill>
                <a:latin typeface="Aptos"/>
              </a:defRPr>
            </a:pPr>
            <a:r>
              <a:t>PRIVATE COPILOT | CUSTOMER-CONTROLLED AI</a:t>
            </a:r>
          </a:p>
        </p:txBody>
      </p:sp>
      <p:sp>
        <p:nvSpPr>
          <p:cNvPr id="33" name="TextBox 32"/>
          <p:cNvSpPr txBox="1"/>
          <p:nvPr/>
        </p:nvSpPr>
        <p:spPr>
          <a:xfrm>
            <a:off x="9217152" y="6565392"/>
            <a:ext cx="2395728" cy="164592"/>
          </a:xfrm>
          <a:prstGeom prst="rect">
            <a:avLst/>
          </a:prstGeom>
          <a:noFill/>
        </p:spPr>
        <p:txBody>
          <a:bodyPr wrap="square" lIns="36576" rIns="36576" tIns="36576" bIns="36576" anchor="t">
            <a:spAutoFit/>
          </a:bodyPr>
          <a:lstStyle/>
          <a:p>
            <a:pPr algn="r">
              <a:defRPr sz="800" b="1">
                <a:solidFill>
                  <a:srgbClr val="5B6B77"/>
                </a:solidFill>
                <a:latin typeface="Aptos"/>
              </a:defRPr>
            </a:pPr>
            <a:r>
              <a:t>AZURE GOVERNMENT + COMMERCIAL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2334"/>
        </a:solidFill>
        <a:effectLst/>
      </p:bgPr>
    </p:bg>
    <p:spTree>
      <p:nvGrpSpPr>
        <p:cNvPr id="1" name=""/>
        <p:cNvGrpSpPr/>
        <p:nvPr/>
      </p:nvGrpSpPr>
      <p:grpSpPr/>
      <p:sp>
        <p:nvSpPr>
          <p:cNvPr id="2" name="TextBox 1"/>
          <p:cNvSpPr txBox="1"/>
          <p:nvPr/>
        </p:nvSpPr>
        <p:spPr>
          <a:xfrm>
            <a:off x="566928" y="384048"/>
            <a:ext cx="457200" cy="228600"/>
          </a:xfrm>
          <a:prstGeom prst="rect">
            <a:avLst/>
          </a:prstGeom>
          <a:noFill/>
        </p:spPr>
        <p:txBody>
          <a:bodyPr wrap="square" lIns="36576" rIns="36576" tIns="36576" bIns="36576" anchor="t">
            <a:spAutoFit/>
          </a:bodyPr>
          <a:lstStyle/>
          <a:p>
            <a:pPr algn="l">
              <a:defRPr sz="1200" b="1">
                <a:solidFill>
                  <a:srgbClr val="E6AE2D"/>
                </a:solidFill>
                <a:latin typeface="Aptos"/>
              </a:defRPr>
            </a:pPr>
            <a:r>
              <a:t>07</a:t>
            </a:r>
          </a:p>
        </p:txBody>
      </p:sp>
      <p:sp>
        <p:nvSpPr>
          <p:cNvPr id="3" name="TextBox 2"/>
          <p:cNvSpPr txBox="1"/>
          <p:nvPr/>
        </p:nvSpPr>
        <p:spPr>
          <a:xfrm>
            <a:off x="566928" y="795528"/>
            <a:ext cx="6858000" cy="621792"/>
          </a:xfrm>
          <a:prstGeom prst="rect">
            <a:avLst/>
          </a:prstGeom>
          <a:noFill/>
        </p:spPr>
        <p:txBody>
          <a:bodyPr wrap="square" lIns="36576" rIns="36576" tIns="36576" bIns="36576" anchor="t">
            <a:spAutoFit/>
          </a:bodyPr>
          <a:lstStyle/>
          <a:p>
            <a:pPr algn="l">
              <a:defRPr sz="3000" b="1">
                <a:solidFill>
                  <a:srgbClr val="FFFFFF"/>
                </a:solidFill>
                <a:latin typeface="Aptos Display"/>
              </a:defRPr>
            </a:pPr>
            <a:r>
              <a:t>From pilot to customer platform</a:t>
            </a:r>
          </a:p>
        </p:txBody>
      </p:sp>
      <p:sp>
        <p:nvSpPr>
          <p:cNvPr id="4" name="TextBox 3"/>
          <p:cNvSpPr txBox="1"/>
          <p:nvPr/>
        </p:nvSpPr>
        <p:spPr>
          <a:xfrm>
            <a:off x="603504" y="1444752"/>
            <a:ext cx="6583680" cy="329184"/>
          </a:xfrm>
          <a:prstGeom prst="rect">
            <a:avLst/>
          </a:prstGeom>
          <a:noFill/>
        </p:spPr>
        <p:txBody>
          <a:bodyPr wrap="square" lIns="36576" rIns="36576" tIns="36576" bIns="36576" anchor="t">
            <a:spAutoFit/>
          </a:bodyPr>
          <a:lstStyle/>
          <a:p>
            <a:pPr algn="l">
              <a:defRPr sz="1500" b="0">
                <a:solidFill>
                  <a:srgbClr val="C3D3DC"/>
                </a:solidFill>
                <a:latin typeface="Aptos"/>
              </a:defRPr>
            </a:pPr>
            <a:r>
              <a:t>A controlled adoption path with measurable customer outcomes</a:t>
            </a:r>
          </a:p>
        </p:txBody>
      </p:sp>
      <p:sp>
        <p:nvSpPr>
          <p:cNvPr id="5" name="TextBox 4"/>
          <p:cNvSpPr txBox="1"/>
          <p:nvPr/>
        </p:nvSpPr>
        <p:spPr>
          <a:xfrm>
            <a:off x="594360" y="2103120"/>
            <a:ext cx="5577840" cy="3154680"/>
          </a:xfrm>
          <a:prstGeom prst="rect">
            <a:avLst/>
          </a:prstGeom>
          <a:noFill/>
        </p:spPr>
        <p:txBody>
          <a:bodyPr wrap="square" lIns="36576" rIns="36576">
            <a:spAutoFit/>
          </a:bodyPr>
          <a:lstStyle/>
          <a:p>
            <a:pPr>
              <a:spcAft>
                <a:spcPts val="1300"/>
              </a:spcAft>
              <a:defRPr sz="1500">
                <a:solidFill>
                  <a:srgbClr val="FFFFFF"/>
                </a:solidFill>
                <a:latin typeface="Aptos"/>
              </a:defRPr>
            </a:pPr>
            <a:r>
              <a:t>•  Private inference and a customer-controlled trust boundary</a:t>
            </a:r>
          </a:p>
          <a:p>
            <a:pPr>
              <a:spcAft>
                <a:spcPts val="1300"/>
              </a:spcAft>
              <a:defRPr sz="1500">
                <a:solidFill>
                  <a:srgbClr val="FFFFFF"/>
                </a:solidFill>
                <a:latin typeface="Aptos"/>
              </a:defRPr>
            </a:pPr>
            <a:r>
              <a:t>•  Managed identity instead of backend keys on developer machines</a:t>
            </a:r>
          </a:p>
          <a:p>
            <a:pPr>
              <a:spcAft>
                <a:spcPts val="1300"/>
              </a:spcAft>
              <a:defRPr sz="1500">
                <a:solidFill>
                  <a:srgbClr val="FFFFFF"/>
                </a:solidFill>
                <a:latin typeface="Aptos"/>
              </a:defRPr>
            </a:pPr>
            <a:r>
              <a:t>•  Per-developer governance, attribution, and model choice</a:t>
            </a:r>
          </a:p>
          <a:p>
            <a:pPr>
              <a:spcAft>
                <a:spcPts val="1300"/>
              </a:spcAft>
              <a:defRPr sz="1500">
                <a:solidFill>
                  <a:srgbClr val="FFFFFF"/>
                </a:solidFill>
                <a:latin typeface="Aptos"/>
              </a:defRPr>
            </a:pPr>
            <a:r>
              <a:t>•  One operating model across Commercial and Government</a:t>
            </a:r>
          </a:p>
          <a:p>
            <a:pPr>
              <a:spcAft>
                <a:spcPts val="1300"/>
              </a:spcAft>
              <a:defRPr sz="1500">
                <a:solidFill>
                  <a:srgbClr val="FFFFFF"/>
                </a:solidFill>
                <a:latin typeface="Aptos"/>
              </a:defRPr>
            </a:pPr>
            <a:r>
              <a:t>•  Reusable delivery assets that shorten time to pilot</a:t>
            </a:r>
          </a:p>
        </p:txBody>
      </p:sp>
      <p:sp>
        <p:nvSpPr>
          <p:cNvPr id="6" name="Oval 5"/>
          <p:cNvSpPr/>
          <p:nvPr/>
        </p:nvSpPr>
        <p:spPr>
          <a:xfrm>
            <a:off x="6839712" y="1947672"/>
            <a:ext cx="438912" cy="438912"/>
          </a:xfrm>
          <a:prstGeom prst="ellipse">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39712" y="2048255"/>
            <a:ext cx="438912" cy="182880"/>
          </a:xfrm>
          <a:prstGeom prst="rect">
            <a:avLst/>
          </a:prstGeom>
          <a:noFill/>
        </p:spPr>
        <p:txBody>
          <a:bodyPr wrap="square" lIns="36576" rIns="36576" tIns="36576" bIns="36576" anchor="t">
            <a:spAutoFit/>
          </a:bodyPr>
          <a:lstStyle/>
          <a:p>
            <a:pPr algn="ctr">
              <a:defRPr sz="1100" b="1">
                <a:solidFill>
                  <a:srgbClr val="122334"/>
                </a:solidFill>
                <a:latin typeface="Aptos"/>
              </a:defRPr>
            </a:pPr>
            <a:r>
              <a:t>1</a:t>
            </a:r>
          </a:p>
        </p:txBody>
      </p:sp>
      <p:sp>
        <p:nvSpPr>
          <p:cNvPr id="8" name="TextBox 7"/>
          <p:cNvSpPr txBox="1"/>
          <p:nvPr/>
        </p:nvSpPr>
        <p:spPr>
          <a:xfrm>
            <a:off x="7470648" y="1938528"/>
            <a:ext cx="1353312" cy="219456"/>
          </a:xfrm>
          <a:prstGeom prst="rect">
            <a:avLst/>
          </a:prstGeom>
          <a:noFill/>
        </p:spPr>
        <p:txBody>
          <a:bodyPr wrap="square" lIns="36576" rIns="36576" tIns="36576" bIns="36576" anchor="t">
            <a:spAutoFit/>
          </a:bodyPr>
          <a:lstStyle/>
          <a:p>
            <a:pPr algn="l">
              <a:defRPr sz="1100" b="1">
                <a:solidFill>
                  <a:srgbClr val="E6AE2D"/>
                </a:solidFill>
                <a:latin typeface="Aptos"/>
              </a:defRPr>
            </a:pPr>
            <a:r>
              <a:t>PROFILE</a:t>
            </a:r>
          </a:p>
        </p:txBody>
      </p:sp>
      <p:sp>
        <p:nvSpPr>
          <p:cNvPr id="9" name="TextBox 8"/>
          <p:cNvSpPr txBox="1"/>
          <p:nvPr/>
        </p:nvSpPr>
        <p:spPr>
          <a:xfrm>
            <a:off x="8631936" y="1938528"/>
            <a:ext cx="2907792" cy="502920"/>
          </a:xfrm>
          <a:prstGeom prst="rect">
            <a:avLst/>
          </a:prstGeom>
          <a:noFill/>
        </p:spPr>
        <p:txBody>
          <a:bodyPr wrap="square" lIns="36576" rIns="36576" tIns="36576" bIns="36576" anchor="t">
            <a:spAutoFit/>
          </a:bodyPr>
          <a:lstStyle/>
          <a:p>
            <a:pPr algn="l">
              <a:defRPr sz="1200" b="0">
                <a:solidFill>
                  <a:srgbClr val="FFFFFF"/>
                </a:solidFill>
                <a:latin typeface="Aptos"/>
              </a:defRPr>
            </a:pPr>
            <a:r>
              <a:t>Cloud, region, models, network, APIM tier</a:t>
            </a:r>
          </a:p>
        </p:txBody>
      </p:sp>
      <p:sp>
        <p:nvSpPr>
          <p:cNvPr id="10" name="Oval 9"/>
          <p:cNvSpPr/>
          <p:nvPr/>
        </p:nvSpPr>
        <p:spPr>
          <a:xfrm>
            <a:off x="6839712" y="2935224"/>
            <a:ext cx="438912" cy="438912"/>
          </a:xfrm>
          <a:prstGeom prst="ellipse">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9712" y="3035808"/>
            <a:ext cx="438912" cy="182880"/>
          </a:xfrm>
          <a:prstGeom prst="rect">
            <a:avLst/>
          </a:prstGeom>
          <a:noFill/>
        </p:spPr>
        <p:txBody>
          <a:bodyPr wrap="square" lIns="36576" rIns="36576" tIns="36576" bIns="36576" anchor="t">
            <a:spAutoFit/>
          </a:bodyPr>
          <a:lstStyle/>
          <a:p>
            <a:pPr algn="ctr">
              <a:defRPr sz="1100" b="1">
                <a:solidFill>
                  <a:srgbClr val="122334"/>
                </a:solidFill>
                <a:latin typeface="Aptos"/>
              </a:defRPr>
            </a:pPr>
            <a:r>
              <a:t>2</a:t>
            </a:r>
          </a:p>
        </p:txBody>
      </p:sp>
      <p:sp>
        <p:nvSpPr>
          <p:cNvPr id="12" name="TextBox 11"/>
          <p:cNvSpPr txBox="1"/>
          <p:nvPr/>
        </p:nvSpPr>
        <p:spPr>
          <a:xfrm>
            <a:off x="7470648" y="2926080"/>
            <a:ext cx="1353312" cy="219456"/>
          </a:xfrm>
          <a:prstGeom prst="rect">
            <a:avLst/>
          </a:prstGeom>
          <a:noFill/>
        </p:spPr>
        <p:txBody>
          <a:bodyPr wrap="square" lIns="36576" rIns="36576" tIns="36576" bIns="36576" anchor="t">
            <a:spAutoFit/>
          </a:bodyPr>
          <a:lstStyle/>
          <a:p>
            <a:pPr algn="l">
              <a:defRPr sz="1100" b="1">
                <a:solidFill>
                  <a:srgbClr val="E6AE2D"/>
                </a:solidFill>
                <a:latin typeface="Aptos"/>
              </a:defRPr>
            </a:pPr>
            <a:r>
              <a:t>IDENTITY</a:t>
            </a:r>
          </a:p>
        </p:txBody>
      </p:sp>
      <p:sp>
        <p:nvSpPr>
          <p:cNvPr id="13" name="TextBox 12"/>
          <p:cNvSpPr txBox="1"/>
          <p:nvPr/>
        </p:nvSpPr>
        <p:spPr>
          <a:xfrm>
            <a:off x="8631936" y="2926080"/>
            <a:ext cx="2907792" cy="502920"/>
          </a:xfrm>
          <a:prstGeom prst="rect">
            <a:avLst/>
          </a:prstGeom>
          <a:noFill/>
        </p:spPr>
        <p:txBody>
          <a:bodyPr wrap="square" lIns="36576" rIns="36576" tIns="36576" bIns="36576" anchor="t">
            <a:spAutoFit/>
          </a:bodyPr>
          <a:lstStyle/>
          <a:p>
            <a:pPr algn="l">
              <a:defRPr sz="1200" b="0">
                <a:solidFill>
                  <a:srgbClr val="FFFFFF"/>
                </a:solidFill>
                <a:latin typeface="Aptos"/>
              </a:defRPr>
            </a:pPr>
            <a:r>
              <a:t>Subscription key or JWT by fleet need</a:t>
            </a:r>
          </a:p>
        </p:txBody>
      </p:sp>
      <p:sp>
        <p:nvSpPr>
          <p:cNvPr id="14" name="Oval 13"/>
          <p:cNvSpPr/>
          <p:nvPr/>
        </p:nvSpPr>
        <p:spPr>
          <a:xfrm>
            <a:off x="6839712" y="3922776"/>
            <a:ext cx="438912" cy="438912"/>
          </a:xfrm>
          <a:prstGeom prst="ellipse">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39712" y="4023360"/>
            <a:ext cx="438912" cy="182880"/>
          </a:xfrm>
          <a:prstGeom prst="rect">
            <a:avLst/>
          </a:prstGeom>
          <a:noFill/>
        </p:spPr>
        <p:txBody>
          <a:bodyPr wrap="square" lIns="36576" rIns="36576" tIns="36576" bIns="36576" anchor="t">
            <a:spAutoFit/>
          </a:bodyPr>
          <a:lstStyle/>
          <a:p>
            <a:pPr algn="ctr">
              <a:defRPr sz="1100" b="1">
                <a:solidFill>
                  <a:srgbClr val="122334"/>
                </a:solidFill>
                <a:latin typeface="Aptos"/>
              </a:defRPr>
            </a:pPr>
            <a:r>
              <a:t>3</a:t>
            </a:r>
          </a:p>
        </p:txBody>
      </p:sp>
      <p:sp>
        <p:nvSpPr>
          <p:cNvPr id="16" name="TextBox 15"/>
          <p:cNvSpPr txBox="1"/>
          <p:nvPr/>
        </p:nvSpPr>
        <p:spPr>
          <a:xfrm>
            <a:off x="7470648" y="3913632"/>
            <a:ext cx="1353312" cy="219456"/>
          </a:xfrm>
          <a:prstGeom prst="rect">
            <a:avLst/>
          </a:prstGeom>
          <a:noFill/>
        </p:spPr>
        <p:txBody>
          <a:bodyPr wrap="square" lIns="36576" rIns="36576" tIns="36576" bIns="36576" anchor="t">
            <a:spAutoFit/>
          </a:bodyPr>
          <a:lstStyle/>
          <a:p>
            <a:pPr algn="l">
              <a:defRPr sz="1100" b="1">
                <a:solidFill>
                  <a:srgbClr val="E6AE2D"/>
                </a:solidFill>
                <a:latin typeface="Aptos"/>
              </a:defRPr>
            </a:pPr>
            <a:r>
              <a:t>PROVE</a:t>
            </a:r>
          </a:p>
        </p:txBody>
      </p:sp>
      <p:sp>
        <p:nvSpPr>
          <p:cNvPr id="17" name="TextBox 16"/>
          <p:cNvSpPr txBox="1"/>
          <p:nvPr/>
        </p:nvSpPr>
        <p:spPr>
          <a:xfrm>
            <a:off x="8631936" y="3913632"/>
            <a:ext cx="2907792" cy="502920"/>
          </a:xfrm>
          <a:prstGeom prst="rect">
            <a:avLst/>
          </a:prstGeom>
          <a:noFill/>
        </p:spPr>
        <p:txBody>
          <a:bodyPr wrap="square" lIns="36576" rIns="36576" tIns="36576" bIns="36576" anchor="t">
            <a:spAutoFit/>
          </a:bodyPr>
          <a:lstStyle/>
          <a:p>
            <a:pPr algn="l">
              <a:defRPr sz="1200" b="0">
                <a:solidFill>
                  <a:srgbClr val="FFFFFF"/>
                </a:solidFill>
                <a:latin typeface="Aptos"/>
              </a:defRPr>
            </a:pPr>
            <a:r>
              <a:t>CI deploy + private smoke + telemetry</a:t>
            </a:r>
          </a:p>
        </p:txBody>
      </p:sp>
      <p:sp>
        <p:nvSpPr>
          <p:cNvPr id="18" name="Oval 17"/>
          <p:cNvSpPr/>
          <p:nvPr/>
        </p:nvSpPr>
        <p:spPr>
          <a:xfrm>
            <a:off x="6839712" y="4910328"/>
            <a:ext cx="438912" cy="438912"/>
          </a:xfrm>
          <a:prstGeom prst="ellipse">
            <a:avLst/>
          </a:prstGeom>
          <a:solidFill>
            <a:srgbClr val="E6A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9712" y="5010912"/>
            <a:ext cx="438912" cy="182880"/>
          </a:xfrm>
          <a:prstGeom prst="rect">
            <a:avLst/>
          </a:prstGeom>
          <a:noFill/>
        </p:spPr>
        <p:txBody>
          <a:bodyPr wrap="square" lIns="36576" rIns="36576" tIns="36576" bIns="36576" anchor="t">
            <a:spAutoFit/>
          </a:bodyPr>
          <a:lstStyle/>
          <a:p>
            <a:pPr algn="ctr">
              <a:defRPr sz="1100" b="1">
                <a:solidFill>
                  <a:srgbClr val="122334"/>
                </a:solidFill>
                <a:latin typeface="Aptos"/>
              </a:defRPr>
            </a:pPr>
            <a:r>
              <a:t>4</a:t>
            </a:r>
          </a:p>
        </p:txBody>
      </p:sp>
      <p:sp>
        <p:nvSpPr>
          <p:cNvPr id="20" name="TextBox 19"/>
          <p:cNvSpPr txBox="1"/>
          <p:nvPr/>
        </p:nvSpPr>
        <p:spPr>
          <a:xfrm>
            <a:off x="7470648" y="4901184"/>
            <a:ext cx="1353312" cy="219456"/>
          </a:xfrm>
          <a:prstGeom prst="rect">
            <a:avLst/>
          </a:prstGeom>
          <a:noFill/>
        </p:spPr>
        <p:txBody>
          <a:bodyPr wrap="square" lIns="36576" rIns="36576" tIns="36576" bIns="36576" anchor="t">
            <a:spAutoFit/>
          </a:bodyPr>
          <a:lstStyle/>
          <a:p>
            <a:pPr algn="l">
              <a:defRPr sz="1100" b="1">
                <a:solidFill>
                  <a:srgbClr val="E6AE2D"/>
                </a:solidFill>
                <a:latin typeface="Aptos"/>
              </a:defRPr>
            </a:pPr>
            <a:r>
              <a:t>SCALE</a:t>
            </a:r>
          </a:p>
        </p:txBody>
      </p:sp>
      <p:sp>
        <p:nvSpPr>
          <p:cNvPr id="21" name="TextBox 20"/>
          <p:cNvSpPr txBox="1"/>
          <p:nvPr/>
        </p:nvSpPr>
        <p:spPr>
          <a:xfrm>
            <a:off x="8631936" y="4901184"/>
            <a:ext cx="2907792" cy="502920"/>
          </a:xfrm>
          <a:prstGeom prst="rect">
            <a:avLst/>
          </a:prstGeom>
          <a:noFill/>
        </p:spPr>
        <p:txBody>
          <a:bodyPr wrap="square" lIns="36576" rIns="36576" tIns="36576" bIns="36576" anchor="t">
            <a:spAutoFit/>
          </a:bodyPr>
          <a:lstStyle/>
          <a:p>
            <a:pPr algn="l">
              <a:defRPr sz="1200" b="0">
                <a:solidFill>
                  <a:srgbClr val="FFFFFF"/>
                </a:solidFill>
                <a:latin typeface="Aptos"/>
              </a:defRPr>
            </a:pPr>
            <a:r>
              <a:t>Cohort rollout, tune, promote tier</a:t>
            </a:r>
          </a:p>
        </p:txBody>
      </p:sp>
      <p:sp>
        <p:nvSpPr>
          <p:cNvPr id="22" name="TextBox 21"/>
          <p:cNvSpPr txBox="1"/>
          <p:nvPr/>
        </p:nvSpPr>
        <p:spPr>
          <a:xfrm>
            <a:off x="6839712" y="5998464"/>
            <a:ext cx="1280160" cy="182880"/>
          </a:xfrm>
          <a:prstGeom prst="rect">
            <a:avLst/>
          </a:prstGeom>
          <a:noFill/>
        </p:spPr>
        <p:txBody>
          <a:bodyPr wrap="square" lIns="36576" rIns="36576" tIns="36576" bIns="36576" anchor="t">
            <a:spAutoFit/>
          </a:bodyPr>
          <a:lstStyle/>
          <a:p>
            <a:pPr algn="l">
              <a:defRPr sz="900" b="1">
                <a:solidFill>
                  <a:srgbClr val="E6AE2D"/>
                </a:solidFill>
                <a:latin typeface="Aptos"/>
              </a:defRPr>
            </a:pPr>
            <a:r>
              <a:t>NEXT DECISION</a:t>
            </a:r>
          </a:p>
        </p:txBody>
      </p:sp>
      <p:sp>
        <p:nvSpPr>
          <p:cNvPr id="23" name="TextBox 22"/>
          <p:cNvSpPr txBox="1"/>
          <p:nvPr/>
        </p:nvSpPr>
        <p:spPr>
          <a:xfrm>
            <a:off x="8138160" y="5925312"/>
            <a:ext cx="3401568" cy="384048"/>
          </a:xfrm>
          <a:prstGeom prst="rect">
            <a:avLst/>
          </a:prstGeom>
          <a:noFill/>
        </p:spPr>
        <p:txBody>
          <a:bodyPr wrap="square" lIns="36576" rIns="36576" tIns="36576" bIns="36576" anchor="t">
            <a:spAutoFit/>
          </a:bodyPr>
          <a:lstStyle/>
          <a:p>
            <a:pPr algn="l">
              <a:defRPr sz="1300" b="1">
                <a:solidFill>
                  <a:srgbClr val="FFFFFF"/>
                </a:solidFill>
                <a:latin typeface="Aptos"/>
              </a:defRPr>
            </a:pPr>
            <a:r>
              <a:t>Select a customer pilot cohort and production target tier.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